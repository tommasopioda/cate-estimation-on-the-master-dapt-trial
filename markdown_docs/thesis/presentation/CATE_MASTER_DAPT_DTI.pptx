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78" r:id="rId1"/>
    <p:sldMasterId id="2147484188" r:id="rId2"/>
  </p:sldMasterIdLst>
  <p:notesMasterIdLst>
    <p:notesMasterId r:id="rId4"/>
  </p:notesMasterIdLst>
  <p:handoutMasterIdLst>
    <p:handoutMasterId r:id="rId5"/>
  </p:handoutMasterIdLst>
  <p:sldIdLst>
    <p:sldId id="258" r:id="rId3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9144000"/>
  <p:defaultTextStyle>
    <a:defPPr>
      <a:defRPr lang="it-IT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898"/>
    <p:restoredTop sz="96327"/>
  </p:normalViewPr>
  <p:slideViewPr>
    <p:cSldViewPr>
      <p:cViewPr varScale="1">
        <p:scale>
          <a:sx n="118" d="100"/>
          <a:sy n="118" d="100"/>
        </p:scale>
        <p:origin x="224" y="2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7AF82F7-3B33-6D48-9626-CABC5CBE1A55}" type="datetime1">
              <a:rPr lang="it-IT" altLang="x-none"/>
              <a:pPr/>
              <a:t>01/12/23</a:t>
            </a:fld>
            <a:endParaRPr lang="it-IT" altLang="x-none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183107-877A-3843-B981-15C7FF01828C}" type="slidenum">
              <a:rPr lang="it-IT" altLang="x-none"/>
              <a:pPr/>
              <a:t>‹N›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>Second level</a:t>
            </a:r>
          </a:p>
          <a:p>
            <a:pPr lvl="2"/>
            <a:r>
              <a:rPr lang="it-IT" noProof="0"/>
              <a:t>Third level</a:t>
            </a:r>
          </a:p>
          <a:p>
            <a:pPr lvl="3"/>
            <a:r>
              <a:rPr lang="it-IT" noProof="0"/>
              <a:t>Fourth level</a:t>
            </a:r>
          </a:p>
          <a:p>
            <a:pPr lvl="4"/>
            <a:r>
              <a:rPr lang="it-IT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DBE5DE3-AADE-E24A-8400-E9BC47681F7D}" type="slidenum">
              <a:rPr lang="it-IT" altLang="x-none"/>
              <a:pPr/>
              <a:t>‹N›</a:t>
            </a:fld>
            <a:endParaRPr lang="it-IT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/>
          <p:cNvSpPr/>
          <p:nvPr/>
        </p:nvSpPr>
        <p:spPr>
          <a:xfrm>
            <a:off x="0" y="0"/>
            <a:ext cx="12192000" cy="1752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it-IT" sz="1800">
              <a:solidFill>
                <a:srgbClr val="FFFFFF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1800" y="3357564"/>
            <a:ext cx="11328400" cy="1900237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13" name="Segnaposto testo 12"/>
          <p:cNvSpPr>
            <a:spLocks noGrp="1"/>
          </p:cNvSpPr>
          <p:nvPr>
            <p:ph type="body" sz="quarter" idx="13"/>
          </p:nvPr>
        </p:nvSpPr>
        <p:spPr>
          <a:xfrm>
            <a:off x="435909" y="5371909"/>
            <a:ext cx="11329577" cy="952691"/>
          </a:xfrm>
        </p:spPr>
        <p:txBody>
          <a:bodyPr/>
          <a:lstStyle>
            <a:lvl1pPr algn="l">
              <a:buNone/>
              <a:defRPr sz="1800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4"/>
          </p:nvPr>
        </p:nvSpPr>
        <p:spPr>
          <a:xfrm>
            <a:off x="431800" y="6454776"/>
            <a:ext cx="2844800" cy="403225"/>
          </a:xfrm>
        </p:spPr>
        <p:txBody>
          <a:bodyPr/>
          <a:lstStyle>
            <a:lvl1pPr>
              <a:defRPr/>
            </a:lvl1pPr>
          </a:lstStyle>
          <a:p>
            <a:fld id="{F7F83134-A4CA-E949-B149-2FCCC03F453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5"/>
          </p:nvPr>
        </p:nvSpPr>
        <p:spPr>
          <a:xfrm>
            <a:off x="3312584" y="6454776"/>
            <a:ext cx="8447616" cy="4032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ED74456C-F2AC-8C48-A76E-4322D1DB8F49}" type="slidenum">
              <a:rPr lang="it-IT" altLang="x-none" smtClean="0"/>
              <a:pPr/>
              <a:t>‹N›</a:t>
            </a:fld>
            <a:endParaRPr lang="it-IT" altLang="x-none"/>
          </a:p>
        </p:txBody>
      </p:sp>
      <p:pic>
        <p:nvPicPr>
          <p:cNvPr id="11" name="Immagin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96000" y="144000"/>
            <a:ext cx="6120396" cy="16200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CD2A80F0-F4BE-274D-A5C2-524DF1B21FB2}"/>
              </a:ext>
            </a:extLst>
          </p:cNvPr>
          <p:cNvSpPr/>
          <p:nvPr userDrawn="1"/>
        </p:nvSpPr>
        <p:spPr>
          <a:xfrm>
            <a:off x="0" y="0"/>
            <a:ext cx="12192000" cy="1752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it-IT" sz="1800">
              <a:solidFill>
                <a:srgbClr val="FFFFFF"/>
              </a:solidFill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0AD351D0-2A96-194B-8691-7EC7586589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 bwMode="auto">
          <a:xfrm>
            <a:off x="407368" y="192025"/>
            <a:ext cx="6108700" cy="161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31800" y="1773239"/>
            <a:ext cx="11328400" cy="1584325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54430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F921A64-38AC-EF46-A5CE-72F7FCA48CD1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0A59FF-5DF7-3A49-A681-2E626F09812C}" type="slidenum">
              <a:rPr lang="it-IT" altLang="x-none" smtClean="0"/>
              <a:pPr/>
              <a:t>‹N›</a:t>
            </a:fld>
            <a:endParaRPr lang="it-IT" altLang="x-none"/>
          </a:p>
        </p:txBody>
      </p:sp>
      <p:sp>
        <p:nvSpPr>
          <p:cNvPr id="9" name="Segnaposto testo 8">
            <a:extLst>
              <a:ext uri="{FF2B5EF4-FFF2-40B4-BE49-F238E27FC236}">
                <a16:creationId xmlns:a16="http://schemas.microsoft.com/office/drawing/2014/main" id="{A9D8D2C8-41E2-D968-A837-BCC359ED77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6458" y="188913"/>
            <a:ext cx="9048013" cy="287759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it-CH" dirty="0"/>
              <a:t>Titolo principale della presentazione</a:t>
            </a:r>
          </a:p>
        </p:txBody>
      </p:sp>
    </p:spTree>
    <p:extLst>
      <p:ext uri="{BB962C8B-B14F-4D97-AF65-F5344CB8AC3E}">
        <p14:creationId xmlns:p14="http://schemas.microsoft.com/office/powerpoint/2010/main" val="232457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318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976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E41249-9097-FB47-9EF5-B6FC6B3D3CD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1322EA-CADA-2B4A-A99C-349C94F7C372}" type="slidenum">
              <a:rPr lang="it-IT" altLang="x-none" smtClean="0"/>
              <a:pPr/>
              <a:t>‹N›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1191305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1126800"/>
            <a:ext cx="11379200" cy="579438"/>
          </a:xfrm>
        </p:spPr>
        <p:txBody>
          <a:bodyPr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06400" y="1752600"/>
            <a:ext cx="5590117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06400" y="2438400"/>
            <a:ext cx="5590117" cy="3687763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93368" y="1752600"/>
            <a:ext cx="5592233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93368" y="2438400"/>
            <a:ext cx="5592233" cy="3687763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buNone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fr-CH" dirty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EC0AE5D-5236-3747-BF13-BFE570B31AAB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391F806-0A1A-334D-9390-D0CB377DD66E}" type="slidenum">
              <a:rPr lang="it-IT" altLang="x-none" smtClean="0"/>
              <a:pPr/>
              <a:t>‹N›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3281868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7999" y="1125539"/>
            <a:ext cx="11355023" cy="719137"/>
          </a:xfrm>
        </p:spPr>
        <p:txBody>
          <a:bodyPr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7D568E5-2F8F-6041-8120-0EECD25B563F}" type="slidenum">
              <a:rPr lang="it-IT" altLang="x-none" smtClean="0"/>
              <a:pPr/>
              <a:t>‹N›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2513498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6AC655A-B948-3845-9718-225A35B93A26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0227397-28E6-E444-BA81-B853C98CF5B1}" type="slidenum">
              <a:rPr lang="it-IT" altLang="x-none" smtClean="0"/>
              <a:pPr/>
              <a:t>‹N›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1369583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35114" y="1127797"/>
            <a:ext cx="4035287" cy="914400"/>
          </a:xfrm>
        </p:spPr>
        <p:txBody>
          <a:bodyPr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766734" y="1126800"/>
            <a:ext cx="6993093" cy="499552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35115" y="2133601"/>
            <a:ext cx="4035285" cy="3992563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CE09EC-DE64-1E44-8CAD-515C01E3BD74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D320602-0182-354F-BCDC-F858B3D199D2}" type="slidenum">
              <a:rPr lang="it-IT" altLang="x-none" smtClean="0"/>
              <a:pPr/>
              <a:t>‹N›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196504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4800600"/>
            <a:ext cx="11359085" cy="566738"/>
          </a:xfrm>
        </p:spPr>
        <p:txBody>
          <a:bodyPr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it-IT" noProof="0"/>
              <a:t>Fare clic sull'icona per inserire un'immagine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06400" y="5367338"/>
            <a:ext cx="11359085" cy="804862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E84057A-0A81-7742-9449-94A3BD014C63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10A947-317F-E74E-8519-7D8ACCDAF589}" type="slidenum">
              <a:rPr lang="it-IT" altLang="x-none" smtClean="0"/>
              <a:pPr/>
              <a:t>‹N›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711764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etto fondo ver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>
            <a:spLocks noGrp="1" noChangeArrowheads="1"/>
          </p:cNvSpPr>
          <p:nvPr/>
        </p:nvSpPr>
        <p:spPr bwMode="auto">
          <a:xfrm>
            <a:off x="1490134" y="185738"/>
            <a:ext cx="8881533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t-IT" altLang="x-none" sz="1200" dirty="0">
                <a:solidFill>
                  <a:schemeClr val="bg1"/>
                </a:solidFill>
              </a:rPr>
              <a:t>Titolo principale della presentazione</a:t>
            </a:r>
          </a:p>
        </p:txBody>
      </p:sp>
      <p:pic>
        <p:nvPicPr>
          <p:cNvPr id="4" name="Immagine 2" descr="logo_SUPSI_acr_ne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34" y="209550"/>
            <a:ext cx="464149" cy="131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itolo 1"/>
          <p:cNvSpPr>
            <a:spLocks noGrp="1"/>
          </p:cNvSpPr>
          <p:nvPr>
            <p:ph type="title"/>
          </p:nvPr>
        </p:nvSpPr>
        <p:spPr>
          <a:xfrm>
            <a:off x="432000" y="1854000"/>
            <a:ext cx="11359085" cy="218460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5" name="Segnaposto data 2"/>
          <p:cNvSpPr>
            <a:spLocks noGrp="1"/>
          </p:cNvSpPr>
          <p:nvPr>
            <p:ph type="dt" sz="half" idx="10"/>
          </p:nvPr>
        </p:nvSpPr>
        <p:spPr>
          <a:xfrm>
            <a:off x="431800" y="6453188"/>
            <a:ext cx="2844800" cy="404812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93F45123-921D-7740-B90B-7306B8C6B31A}" type="datetime1">
              <a:rPr lang="it-IT" altLang="x-none"/>
              <a:pPr/>
              <a:t>01/12/23</a:t>
            </a:fld>
            <a:endParaRPr lang="it-IT" altLang="x-none"/>
          </a:p>
        </p:txBody>
      </p:sp>
      <p:sp>
        <p:nvSpPr>
          <p:cNvPr id="6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312584" y="6453188"/>
            <a:ext cx="8447616" cy="404812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10769600" y="188913"/>
            <a:ext cx="990600" cy="476250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3287FADD-30C3-C049-8D55-8DEA889755CF}" type="slidenum">
              <a:rPr lang="it-IT" altLang="x-none"/>
              <a:pPr/>
              <a:t>‹N›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4276197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etto fondo celes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>
            <a:spLocks noGrp="1" noChangeArrowheads="1"/>
          </p:cNvSpPr>
          <p:nvPr/>
        </p:nvSpPr>
        <p:spPr bwMode="auto">
          <a:xfrm>
            <a:off x="1490134" y="185738"/>
            <a:ext cx="8881533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t-IT" altLang="x-none" sz="1200" dirty="0">
                <a:solidFill>
                  <a:schemeClr val="bg1"/>
                </a:solidFill>
              </a:rPr>
              <a:t>Titolo principale della presentazione</a:t>
            </a:r>
          </a:p>
        </p:txBody>
      </p:sp>
      <p:sp>
        <p:nvSpPr>
          <p:cNvPr id="15" name="Titolo 1"/>
          <p:cNvSpPr>
            <a:spLocks noGrp="1"/>
          </p:cNvSpPr>
          <p:nvPr>
            <p:ph type="title"/>
          </p:nvPr>
        </p:nvSpPr>
        <p:spPr>
          <a:xfrm>
            <a:off x="432000" y="1854000"/>
            <a:ext cx="11359085" cy="218460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5" name="Segnaposto data 2"/>
          <p:cNvSpPr>
            <a:spLocks noGrp="1"/>
          </p:cNvSpPr>
          <p:nvPr>
            <p:ph type="dt" sz="half" idx="10"/>
          </p:nvPr>
        </p:nvSpPr>
        <p:spPr>
          <a:xfrm>
            <a:off x="431800" y="6453188"/>
            <a:ext cx="2844800" cy="404812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68DA427A-72D9-3247-BA06-3DB070B66C11}" type="datetime1">
              <a:rPr lang="it-IT" altLang="x-none"/>
              <a:pPr/>
              <a:t>01/12/23</a:t>
            </a:fld>
            <a:endParaRPr lang="it-IT" altLang="x-none"/>
          </a:p>
        </p:txBody>
      </p:sp>
      <p:sp>
        <p:nvSpPr>
          <p:cNvPr id="6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312584" y="6453188"/>
            <a:ext cx="8447616" cy="404812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10769600" y="188913"/>
            <a:ext cx="990600" cy="476250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BF76A7DA-996F-1A49-B6B2-83D5812CE409}" type="slidenum">
              <a:rPr lang="it-IT" altLang="x-none"/>
              <a:pPr/>
              <a:t>‹N›</a:t>
            </a:fld>
            <a:endParaRPr lang="it-IT" altLang="x-none"/>
          </a:p>
        </p:txBody>
      </p:sp>
      <p:pic>
        <p:nvPicPr>
          <p:cNvPr id="9" name="Immagine 2" descr="logo_SUPSI_acr_ne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34" y="209550"/>
            <a:ext cx="464149" cy="131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50452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etto fondo bl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>
            <a:spLocks noGrp="1" noChangeArrowheads="1"/>
          </p:cNvSpPr>
          <p:nvPr/>
        </p:nvSpPr>
        <p:spPr bwMode="auto">
          <a:xfrm>
            <a:off x="1490134" y="185738"/>
            <a:ext cx="8881533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t-IT" altLang="x-none" sz="1200" dirty="0">
                <a:solidFill>
                  <a:schemeClr val="bg1"/>
                </a:solidFill>
              </a:rPr>
              <a:t>Titolo principale della presentazione</a:t>
            </a:r>
          </a:p>
          <a:p>
            <a:endParaRPr lang="it-IT" altLang="x-none" sz="1200" dirty="0">
              <a:solidFill>
                <a:schemeClr val="bg1"/>
              </a:solidFill>
            </a:endParaRPr>
          </a:p>
          <a:p>
            <a:endParaRPr lang="it-IT" altLang="x-none" sz="1200" dirty="0">
              <a:solidFill>
                <a:schemeClr val="bg1"/>
              </a:solidFill>
            </a:endParaRPr>
          </a:p>
        </p:txBody>
      </p:sp>
      <p:sp>
        <p:nvSpPr>
          <p:cNvPr id="13" name="Titolo 1"/>
          <p:cNvSpPr>
            <a:spLocks noGrp="1"/>
          </p:cNvSpPr>
          <p:nvPr>
            <p:ph type="title"/>
          </p:nvPr>
        </p:nvSpPr>
        <p:spPr>
          <a:xfrm>
            <a:off x="432000" y="1854000"/>
            <a:ext cx="11359085" cy="218460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5" name="Segnaposto data 2"/>
          <p:cNvSpPr>
            <a:spLocks noGrp="1"/>
          </p:cNvSpPr>
          <p:nvPr>
            <p:ph type="dt" sz="half" idx="10"/>
          </p:nvPr>
        </p:nvSpPr>
        <p:spPr>
          <a:xfrm>
            <a:off x="431800" y="6453188"/>
            <a:ext cx="2844800" cy="404812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5C57D4B7-BB58-EB4E-9AE5-1944B9F38190}" type="datetime1">
              <a:rPr lang="it-IT" altLang="x-none"/>
              <a:pPr/>
              <a:t>01/12/23</a:t>
            </a:fld>
            <a:endParaRPr lang="it-IT" altLang="x-none"/>
          </a:p>
        </p:txBody>
      </p:sp>
      <p:sp>
        <p:nvSpPr>
          <p:cNvPr id="6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312584" y="6453188"/>
            <a:ext cx="8447616" cy="404812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10769600" y="188913"/>
            <a:ext cx="990600" cy="476250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477AC912-03CD-4447-8A3D-883E73D86DDF}" type="slidenum">
              <a:rPr lang="it-IT" altLang="x-none"/>
              <a:pPr/>
              <a:t>‹N›</a:t>
            </a:fld>
            <a:endParaRPr lang="it-IT" altLang="x-none"/>
          </a:p>
        </p:txBody>
      </p:sp>
      <p:pic>
        <p:nvPicPr>
          <p:cNvPr id="8" name="Immagine 2" descr="logo_SUPSI_acr_ne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34" y="209550"/>
            <a:ext cx="464149" cy="131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550035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0" y="1125539"/>
            <a:ext cx="11328400" cy="719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/>
              <a:t>Fare clic per modificare stile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0" y="1916114"/>
            <a:ext cx="11328400" cy="432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/>
              <a:t>Fare clic per modificare gli stili del testo dello schema</a:t>
            </a:r>
          </a:p>
          <a:p>
            <a:pPr lvl="1"/>
            <a:r>
              <a:rPr lang="it-IT" altLang="x-none"/>
              <a:t>Secondo livello</a:t>
            </a:r>
          </a:p>
          <a:p>
            <a:pPr lvl="2"/>
            <a:r>
              <a:rPr lang="it-IT" altLang="x-none"/>
              <a:t>Terzo livello</a:t>
            </a:r>
          </a:p>
          <a:p>
            <a:pPr lvl="3"/>
            <a:r>
              <a:rPr lang="it-IT" altLang="x-none"/>
              <a:t>Quarto livello</a:t>
            </a:r>
          </a:p>
          <a:p>
            <a:pPr lvl="4"/>
            <a:r>
              <a:rPr lang="it-IT" altLang="x-none"/>
              <a:t>Quinto livello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31800" y="6453188"/>
            <a:ext cx="2844800" cy="404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/>
            </a:lvl1pPr>
          </a:lstStyle>
          <a:p>
            <a:fld id="{272822E4-9146-BE45-8452-C5B721441601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12584" y="6453188"/>
            <a:ext cx="8447616" cy="404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668000" y="188913"/>
            <a:ext cx="10922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D63C33A6-06BE-5141-9B86-15478A8BB20F}" type="slidenum">
              <a:rPr lang="it-IT" altLang="x-none" smtClean="0"/>
              <a:pPr/>
              <a:t>‹N›</a:t>
            </a:fld>
            <a:endParaRPr lang="it-IT" altLang="x-none"/>
          </a:p>
        </p:txBody>
      </p:sp>
      <p:pic>
        <p:nvPicPr>
          <p:cNvPr id="1032" name="Immagine 6" descr="logo_SUPSI_acr.gif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34" y="209550"/>
            <a:ext cx="493776" cy="140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0629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87" r:id="rId1"/>
    <p:sldLayoutId id="2147484180" r:id="rId2"/>
    <p:sldLayoutId id="2147484181" r:id="rId3"/>
    <p:sldLayoutId id="2147484182" r:id="rId4"/>
    <p:sldLayoutId id="2147484183" r:id="rId5"/>
    <p:sldLayoutId id="2147484184" r:id="rId6"/>
    <p:sldLayoutId id="2147484185" r:id="rId7"/>
    <p:sldLayoutId id="2147484186" r:id="rId8"/>
  </p:sldLayoutIdLst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+mj-lt"/>
          <a:ea typeface="ＭＳ Ｐゴシック" pitchFamily="-112" charset="-128"/>
          <a:cs typeface="ＭＳ Ｐゴシック" pitchFamily="-11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  <a:cs typeface="ＭＳ Ｐゴシック" pitchFamily="-11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ＭＳ Ｐゴシック" pitchFamily="-112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4840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89" r:id="rId1"/>
    <p:sldLayoutId id="2147484190" r:id="rId2"/>
    <p:sldLayoutId id="2147484191" r:id="rId3"/>
  </p:sldLayoutIdLst>
  <p:hf hdr="0" ftr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ＭＳ Ｐゴシック" pitchFamily="-128" charset="-128"/>
          <a:cs typeface="ＭＳ Ｐゴシック" pitchFamily="-128" charset="-128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ＭＳ Ｐゴシック" pitchFamily="-128" charset="-128"/>
          <a:cs typeface="ＭＳ Ｐゴシック" pitchFamily="-128" charset="-128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ＭＳ Ｐゴシック" pitchFamily="-128" charset="-128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pitchFamily="-128" charset="-128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ＭＳ Ｐゴシック" pitchFamily="-128" charset="-128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ＭＳ Ｐゴシック" pitchFamily="-128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2838C8"/>
                </a:solidFill>
                <a:latin typeface="Times New Roman"/>
              </a:rPr>
              <a:t>CATE Estimation and Use in the MASTER DAPT Study</a:t>
            </a:r>
            <a:endParaRPr lang="x-none" altLang="x-none" dirty="0">
              <a:ea typeface="ＭＳ Ｐゴシック" charset="-128"/>
            </a:endParaRPr>
          </a:p>
        </p:txBody>
      </p:sp>
      <p:sp>
        <p:nvSpPr>
          <p:cNvPr id="16387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700" i="1">
                <a:solidFill>
                  <a:srgbClr val="3C3C3C"/>
                </a:solidFill>
                <a:latin typeface="Times New Roman"/>
              </a:rPr>
              <a:t>Can we find, validate, and act on individual treatment effect heterogeneity in a randomized cardiology trial — and if we can't, why not?</a:t>
            </a:r>
            <a:endParaRPr lang="x-none" altLang="x-none">
              <a:ea typeface="ＭＳ Ｐゴシック" charset="-128"/>
            </a:endParaRPr>
          </a:p>
        </p:txBody>
      </p:sp>
      <p:sp>
        <p:nvSpPr>
          <p:cNvPr id="16390" name="Segnaposto testo 5"/>
          <p:cNvSpPr>
            <a:spLocks noGrp="1"/>
          </p:cNvSpPr>
          <p:nvPr>
            <p:ph type="body" sz="quarter" idx="13"/>
          </p:nvPr>
        </p:nvSpPr>
        <p:spPr>
          <a:xfrm>
            <a:off x="431800" y="5372100"/>
            <a:ext cx="11328400" cy="952500"/>
          </a:xfrm>
        </p:spPr>
        <p:txBody>
          <a:bodyPr/>
          <a:lstStyle/>
          <a:p>
            <a:r>
              <a:rPr sz="1100" b="1">
                <a:solidFill>
                  <a:srgbClr val="7A7A7A"/>
                </a:solidFill>
                <a:latin typeface="Arial"/>
              </a:rPr>
              <a:t>CANDIDATE:  </a:t>
            </a:r>
            <a:r>
              <a:rPr sz="1250">
                <a:solidFill>
                  <a:srgbClr val="000000"/>
                </a:solidFill>
                <a:latin typeface="Arial"/>
              </a:rPr>
              <a:t>Tommaso Pioda</a:t>
            </a:r>
          </a:p>
          <a:p>
            <a:r>
              <a:rPr sz="1100" b="1">
                <a:solidFill>
                  <a:srgbClr val="7A7A7A"/>
                </a:solidFill>
                <a:latin typeface="Arial"/>
              </a:rPr>
              <a:t>SUPERVISOR:  </a:t>
            </a:r>
            <a:r>
              <a:rPr sz="1250">
                <a:solidFill>
                  <a:srgbClr val="000000"/>
                </a:solidFill>
                <a:latin typeface="Arial"/>
              </a:rPr>
              <a:t>Prof. Laura Azzimonti</a:t>
            </a:r>
          </a:p>
          <a:p>
            <a:r>
              <a:rPr sz="1100" b="1">
                <a:solidFill>
                  <a:srgbClr val="7A7A7A"/>
                </a:solidFill>
                <a:latin typeface="Arial"/>
              </a:rPr>
              <a:t>CO-SUPERVISOR:  </a:t>
            </a:r>
            <a:r>
              <a:rPr sz="1250">
                <a:solidFill>
                  <a:srgbClr val="000000"/>
                </a:solidFill>
                <a:latin typeface="Arial"/>
              </a:rPr>
              <a:t>Gabriele Maroni</a:t>
            </a:r>
          </a:p>
          <a:p>
            <a:r>
              <a:rPr sz="1100" b="1">
                <a:solidFill>
                  <a:srgbClr val="7A7A7A"/>
                </a:solidFill>
                <a:latin typeface="Arial"/>
              </a:rPr>
              <a:t>CLIENT:  </a:t>
            </a:r>
            <a:r>
              <a:rPr sz="1250">
                <a:solidFill>
                  <a:srgbClr val="000000"/>
                </a:solidFill>
                <a:latin typeface="Arial"/>
              </a:rPr>
              <a:t>EOC</a:t>
            </a:r>
          </a:p>
          <a:p>
            <a:r>
              <a:rPr sz="1100" b="1">
                <a:solidFill>
                  <a:srgbClr val="7A7A7A"/>
                </a:solidFill>
                <a:latin typeface="Arial"/>
              </a:rPr>
              <a:t>PROGRAMME:  </a:t>
            </a:r>
            <a:r>
              <a:rPr sz="1250">
                <a:solidFill>
                  <a:srgbClr val="000000"/>
                </a:solidFill>
                <a:latin typeface="Arial"/>
              </a:rPr>
              <a:t>Data Science &amp; AI</a:t>
            </a:r>
          </a:p>
        </p:txBody>
      </p:sp>
      <p:sp>
        <p:nvSpPr>
          <p:cNvPr id="16388" name="Segnaposto data 3"/>
          <p:cNvSpPr>
            <a:spLocks noGrp="1"/>
          </p:cNvSpPr>
          <p:nvPr>
            <p:ph type="dt" sz="half" idx="1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D0E7084-6D1E-C846-9079-9ED7B2EF1D1E}" type="datetime4">
              <a:rPr lang="it-IT" altLang="x-none" sz="1000"/>
              <a:pPr eaLnBrk="1" hangingPunct="1"/>
              <a:t>1 dicembre 2023</a:t>
            </a:fld>
            <a:endParaRPr lang="it-IT" altLang="x-none" sz="1000"/>
          </a:p>
        </p:txBody>
      </p:sp>
      <p:sp>
        <p:nvSpPr>
          <p:cNvPr id="16389" name="Segnaposto numero diapositiva 4"/>
          <p:cNvSpPr>
            <a:spLocks noGrp="1"/>
          </p:cNvSpPr>
          <p:nvPr>
            <p:ph type="sldNum" sz="quarter" idx="16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5494AEC-2F9A-7A43-834C-9CFD1E6D901E}" type="slidenum">
              <a:rPr lang="it-IT" altLang="x-none" sz="1200"/>
              <a:pPr eaLnBrk="1" hangingPunct="1"/>
              <a:t>1</a:t>
            </a:fld>
            <a:endParaRPr lang="it-IT" altLang="x-none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From the average effect to the individual decision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9966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300">
                <a:solidFill>
                  <a:srgbClr val="7A7A7A"/>
                </a:solidFill>
                <a:latin typeface="Arial"/>
              </a:rPr>
              <a:t>●  </a:t>
            </a:r>
            <a:r>
              <a:rPr sz="1600">
                <a:solidFill>
                  <a:srgbClr val="3C3C3C"/>
                </a:solidFill>
                <a:latin typeface="Arial"/>
              </a:rPr>
              <a:t>Randomized controlled trials are the gold standard for causal claims — but large, costly, and slow, and they report a single number: the </a:t>
            </a:r>
            <a:r>
              <a:rPr b="1" sz="1600">
                <a:solidFill>
                  <a:srgbClr val="000000"/>
                </a:solidFill>
                <a:latin typeface="Arial"/>
              </a:rPr>
              <a:t>average treatment effect</a:t>
            </a:r>
            <a:r>
              <a:rPr sz="1600">
                <a:solidFill>
                  <a:srgbClr val="3C3C3C"/>
                </a:solidFill>
                <a:latin typeface="Arial"/>
              </a:rPr>
              <a:t>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300">
                <a:solidFill>
                  <a:srgbClr val="7A7A7A"/>
                </a:solidFill>
                <a:latin typeface="Arial"/>
              </a:rPr>
              <a:t>●  </a:t>
            </a:r>
            <a:r>
              <a:rPr sz="1600">
                <a:solidFill>
                  <a:srgbClr val="3C3C3C"/>
                </a:solidFill>
                <a:latin typeface="Arial"/>
              </a:rPr>
              <a:t>An average effect conceals a clinically critical dimension: </a:t>
            </a:r>
            <a:r>
              <a:rPr b="1" sz="1600">
                <a:solidFill>
                  <a:srgbClr val="000000"/>
                </a:solidFill>
                <a:latin typeface="Arial"/>
              </a:rPr>
              <a:t>not every patient benefits equally</a:t>
            </a:r>
            <a:r>
              <a:rPr sz="1600">
                <a:solidFill>
                  <a:srgbClr val="3C3C3C"/>
                </a:solidFill>
                <a:latin typeface="Arial"/>
              </a:rPr>
              <a:t> from the same therapy.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300">
                <a:solidFill>
                  <a:srgbClr val="7A7A7A"/>
                </a:solidFill>
                <a:latin typeface="Arial"/>
              </a:rPr>
              <a:t>●  </a:t>
            </a:r>
            <a:r>
              <a:rPr sz="1600">
                <a:solidFill>
                  <a:srgbClr val="3C3C3C"/>
                </a:solidFill>
                <a:latin typeface="Arial"/>
              </a:rPr>
              <a:t>Precision medicine asks for more: the </a:t>
            </a:r>
            <a:r>
              <a:rPr b="1" sz="1600">
                <a:solidFill>
                  <a:srgbClr val="000000"/>
                </a:solidFill>
                <a:latin typeface="Arial"/>
              </a:rPr>
              <a:t>Conditional Average Treatment Effect</a:t>
            </a:r>
            <a:r>
              <a:rPr sz="1600">
                <a:solidFill>
                  <a:srgbClr val="3C3C3C"/>
                </a:solidFill>
                <a:latin typeface="Arial"/>
              </a:rPr>
              <a:t>, τ(x) — the effect expected for a patient with covariates x.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892040"/>
            <a:ext cx="32004" cy="914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37176"/>
            <a:ext cx="9784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This thesis asks whether that promise — sharper decisions from the same trial data — holds for a real RCT: MASTER DAPT.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One trial, two ways to be wrong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3C3C3C"/>
                </a:solidFill>
                <a:latin typeface="Arial"/>
              </a:rPr>
              <a:t>MASTER DAPT randomized 4,579 high-bleeding-risk patients between abbreviated and prolonged DAPT, and concluded in favour of abbreviation — non-inferior on ischaemia, superior on bleeding.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657600"/>
            <a:ext cx="32004" cy="128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602736"/>
            <a:ext cx="5852159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That is an average result. A favourable trial-level effect is compatible with subgroups that gain nothing — or are harmed.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148840"/>
            <a:ext cx="39319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B24F2C"/>
                </a:solidFill>
                <a:latin typeface="Times New Roman"/>
              </a:rPr>
              <a:t>↓ bleeding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66090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A7A7A"/>
                </a:solidFill>
                <a:latin typeface="Arial"/>
              </a:rPr>
              <a:t>ABBREVIATED DAPT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017520"/>
            <a:ext cx="39319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215F73"/>
                </a:solidFill>
                <a:latin typeface="Times New Roman"/>
              </a:rPr>
              <a:t>↑ ischaemia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5295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A7A7A"/>
                </a:solidFill>
                <a:latin typeface="Arial"/>
              </a:rPr>
              <a:t>IF THERAPY IS TOO SHORT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Why “treat the highest-risk patient” is not an answer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9875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sz="1500">
                <a:solidFill>
                  <a:srgbClr val="3C3C3C"/>
                </a:solidFill>
                <a:latin typeface="Arial"/>
              </a:rPr>
              <a:t>A risk model ranks patients by </a:t>
            </a:r>
            <a:r>
              <a:rPr b="1" sz="1500">
                <a:solidFill>
                  <a:srgbClr val="000000"/>
                </a:solidFill>
                <a:latin typeface="Arial"/>
              </a:rPr>
              <a:t>P(event | treatment received)</a:t>
            </a:r>
            <a:r>
              <a:rPr sz="1500">
                <a:solidFill>
                  <a:srgbClr val="3C3C3C"/>
                </a:solidFill>
                <a:latin typeface="Arial"/>
              </a:rPr>
              <a:t> — one world, the one we observed.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sz="1500">
                <a:solidFill>
                  <a:srgbClr val="3C3C3C"/>
                </a:solidFill>
                <a:latin typeface="Arial"/>
              </a:rPr>
              <a:t>A treatment decision needs the </a:t>
            </a:r>
            <a:r>
              <a:rPr b="1" sz="1500">
                <a:solidFill>
                  <a:srgbClr val="000000"/>
                </a:solidFill>
                <a:latin typeface="Arial"/>
              </a:rPr>
              <a:t>difference between two worlds</a:t>
            </a:r>
            <a:r>
              <a:rPr sz="1500">
                <a:solidFill>
                  <a:srgbClr val="3C3C3C"/>
                </a:solidFill>
                <a:latin typeface="Arial"/>
              </a:rPr>
              <a:t>, and only one of them is ever observed for any patient. This is the fundamental problem of causal inference.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sz="1500">
                <a:solidFill>
                  <a:srgbClr val="3C3C3C"/>
                </a:solidFill>
                <a:latin typeface="Arial"/>
              </a:rPr>
              <a:t>The highest-risk patient may gain the most from shortening therapy, the least, or be harmed by it — risk alone cannot tell the three apart.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800600"/>
            <a:ext cx="32004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45736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i="1">
                <a:solidFill>
                  <a:srgbClr val="000000"/>
                </a:solidFill>
                <a:latin typeface="Times New Roman"/>
              </a:rPr>
              <a:t>Risk does not rank benefit.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Two questions, in order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RESEARCH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267712"/>
            <a:ext cx="482803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Q1 — ESTIMATE &amp; VALIDATE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Can the individual treatment effect (CATE) be estimated at all — and, since the true individual effect is never observed, can it be </a:t>
            </a:r>
            <a:r>
              <a:rPr b="1" sz="1100">
                <a:solidFill>
                  <a:srgbClr val="000000"/>
                </a:solidFill>
                <a:latin typeface="Arial"/>
              </a:rPr>
              <a:t>validated</a:t>
            </a:r>
            <a:r>
              <a:rPr sz="1100">
                <a:solidFill>
                  <a:srgbClr val="3C3C3C"/>
                </a:solidFill>
                <a:latin typeface="Arial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14884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5624" y="2267712"/>
            <a:ext cx="482803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Q2 — EXPLOIT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If a credible effect exists, can enrolment be </a:t>
            </a:r>
            <a:r>
              <a:rPr b="1" sz="1100">
                <a:solidFill>
                  <a:srgbClr val="000000"/>
                </a:solidFill>
                <a:latin typeface="Arial"/>
              </a:rPr>
              <a:t>concentrated</a:t>
            </a:r>
            <a:r>
              <a:rPr sz="1100">
                <a:solidFill>
                  <a:srgbClr val="3C3C3C"/>
                </a:solidFill>
                <a:latin typeface="Arial"/>
              </a:rPr>
              <a:t> on the patients where it is visible — reaching the same precision with fewer patients?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389120"/>
            <a:ext cx="32004" cy="914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34256"/>
            <a:ext cx="9692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Five estimator families answer Q1. Five enrolment mechanisms answer Q2 — once Q1's answer changes what Q2 has to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How the talk gets from Q1 to Q2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9966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b="1" sz="1500">
                <a:solidFill>
                  <a:srgbClr val="000000"/>
                </a:solidFill>
                <a:latin typeface="Arial"/>
              </a:rPr>
              <a:t>Case study</a:t>
            </a:r>
            <a:r>
              <a:rPr sz="1500">
                <a:solidFill>
                  <a:srgbClr val="3C3C3C"/>
                </a:solidFill>
                <a:latin typeface="Arial"/>
              </a:rPr>
              <a:t> — the MASTER DAPT cohort, and a predictive anomaly in its risk models.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b="1" sz="1500">
                <a:solidFill>
                  <a:srgbClr val="000000"/>
                </a:solidFill>
                <a:latin typeface="Arial"/>
              </a:rPr>
              <a:t>Method</a:t>
            </a:r>
            <a:r>
              <a:rPr sz="1500">
                <a:solidFill>
                  <a:srgbClr val="3C3C3C"/>
                </a:solidFill>
                <a:latin typeface="Arial"/>
              </a:rPr>
              <a:t> — five estimator families, validated against one standard: the noise floor.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b="1" sz="1500">
                <a:solidFill>
                  <a:srgbClr val="000000"/>
                </a:solidFill>
                <a:latin typeface="Arial"/>
              </a:rPr>
              <a:t>Results</a:t>
            </a:r>
            <a:r>
              <a:rPr sz="1500">
                <a:solidFill>
                  <a:srgbClr val="3C3C3C"/>
                </a:solidFill>
                <a:latin typeface="Arial"/>
              </a:rPr>
              <a:t> — the positive control, the negative result, the trade-off plane, decision value, and the smallest effect the data could still be hiding.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b="1" sz="1500">
                <a:solidFill>
                  <a:srgbClr val="000000"/>
                </a:solidFill>
                <a:latin typeface="Arial"/>
              </a:rPr>
              <a:t>Why</a:t>
            </a:r>
            <a:r>
              <a:rPr sz="1500">
                <a:solidFill>
                  <a:srgbClr val="3C3C3C"/>
                </a:solidFill>
                <a:latin typeface="Arial"/>
              </a:rPr>
              <a:t> — three converging explanations for the negative result.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b="1" sz="1500">
                <a:solidFill>
                  <a:srgbClr val="000000"/>
                </a:solidFill>
                <a:latin typeface="Arial"/>
              </a:rPr>
              <a:t>Testing it end-to-end</a:t>
            </a:r>
            <a:r>
              <a:rPr sz="1500">
                <a:solidFill>
                  <a:srgbClr val="3C3C3C"/>
                </a:solidFill>
                <a:latin typeface="Arial"/>
              </a:rPr>
              <a:t> — guided enrolment, an exploitability test, with Mechanism 1's own results.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b="1" sz="1500">
                <a:solidFill>
                  <a:srgbClr val="000000"/>
                </a:solidFill>
                <a:latin typeface="Arial"/>
              </a:rPr>
              <a:t>Conclusions</a:t>
            </a:r>
            <a:r>
              <a:rPr sz="1500">
                <a:solidFill>
                  <a:srgbClr val="3C3C3C"/>
                </a:solidFill>
                <a:latin typeface="Arial"/>
              </a:rPr>
              <a:t> — what holds, what doesn't, and where to ask the same question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MASTER DAPT: the cohort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CASE STUDY —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2816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ENDPOINT (335 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2152" y="2148840"/>
            <a:ext cx="11265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8692" y="2148840"/>
            <a:ext cx="11777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459736"/>
            <a:ext cx="5120640" cy="1270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32888"/>
            <a:ext cx="281635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B24F2C"/>
                </a:solidFill>
                <a:latin typeface="Arial"/>
              </a:rPr>
              <a:t>Bleeding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532888"/>
            <a:ext cx="11265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B24F2C"/>
                </a:solidFill>
                <a:latin typeface="Arial"/>
              </a:rPr>
              <a:t>506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8692" y="2532888"/>
            <a:ext cx="1177747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B24F2C"/>
                </a:solidFill>
                <a:latin typeface="Arial"/>
              </a:rPr>
              <a:t>11.1%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62072"/>
            <a:ext cx="512064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16936"/>
            <a:ext cx="281635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BARC 2/3/5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916936"/>
            <a:ext cx="11265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359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8692" y="2916936"/>
            <a:ext cx="1177747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7.8%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246120"/>
            <a:ext cx="512064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300984"/>
            <a:ext cx="281635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Myocardial infarction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3300984"/>
            <a:ext cx="11265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109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8692" y="3300984"/>
            <a:ext cx="1177747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2.4%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0168"/>
            <a:ext cx="512064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85032"/>
            <a:ext cx="281635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CV death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2152" y="3685032"/>
            <a:ext cx="11265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8692" y="3685032"/>
            <a:ext cx="1177747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1.8%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14216"/>
            <a:ext cx="512064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069080"/>
            <a:ext cx="281635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Stroke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2152" y="4069080"/>
            <a:ext cx="11265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8692" y="4069080"/>
            <a:ext cx="1177747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0.8%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398264"/>
            <a:ext cx="512064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4773168"/>
            <a:ext cx="32004" cy="1188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18304"/>
            <a:ext cx="49377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4,579 randomized · 63 baseline covariates · T=1 = prolonged, so CATE always reads as the benefit of shortening.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4884" y="1737360"/>
            <a:ext cx="3749511" cy="4087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sterdap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188" y="1883664"/>
            <a:ext cx="3456903" cy="3794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4884" y="5879592"/>
            <a:ext cx="3749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50">
                <a:solidFill>
                  <a:srgbClr val="7A7A7A"/>
                </a:solidFill>
                <a:latin typeface="Arial"/>
              </a:rPr>
              <a:t>All 4,579 patients were enrolled because they were at high bleeding risk — a design criterion, not a coincidence.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A predictive anomaly, left open on purpose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CASE STUDY — RISK MODELS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5" y="1828800"/>
            <a:ext cx="6693408" cy="30991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C_PR_out_of_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975104"/>
            <a:ext cx="6400800" cy="28065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5" y="4982853"/>
            <a:ext cx="6693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50">
                <a:solidFill>
                  <a:srgbClr val="7A7A7A"/>
                </a:solidFill>
                <a:latin typeface="Arial"/>
              </a:rPr>
              <a:t>Five endpoint-specific risk models, evaluated out-of-fold, threshold-free, over the whole cohort.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874519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3C3C3C"/>
                </a:solidFill>
                <a:latin typeface="Arial"/>
              </a:rPr>
              <a:t>If risk tracked event frequency, bleeding — 506 events — should be the easiest endpoint to predict. It is the hardest.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880360"/>
            <a:ext cx="16459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215F73"/>
                </a:solidFill>
                <a:latin typeface="Times New Roman"/>
              </a:rPr>
              <a:t>0.76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339242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A7A7A"/>
                </a:solidFill>
                <a:latin typeface="Arial"/>
              </a:rPr>
              <a:t>CV DEATH · 81 EV.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880360"/>
            <a:ext cx="16459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215F73"/>
                </a:solidFill>
                <a:latin typeface="Times New Roman"/>
              </a:rPr>
              <a:t>0.72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339242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A7A7A"/>
                </a:solidFill>
                <a:latin typeface="Arial"/>
              </a:rPr>
              <a:t>MI · 109 EV.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840480"/>
            <a:ext cx="16459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B24F2C"/>
                </a:solidFill>
                <a:latin typeface="Times New Roman"/>
              </a:rPr>
              <a:t>0.62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35254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A7A7A"/>
                </a:solidFill>
                <a:latin typeface="Arial"/>
              </a:rPr>
              <a:t>BLEEDING · 506 EV.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754880"/>
            <a:ext cx="32004" cy="10058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0016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Explained in full only in chapter 8 — the same cause reappears there for the causal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Five estimator families, chosen to err differently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METHOD — ESTIMATION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221991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META-LEARNER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Two outcome models, one per arm; CATE is their difference. Simple, inherits every model error.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103120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2221991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CAUSAL FOREST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Estimates heterogeneity directly; double ML removes confounding, honest splits avoid overstating 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2103120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2983" y="2221991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BAYESIAN CAUSAL FOREST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Regularizes the effect surface separately from the prognostic one — a confounder can't disguise itself as heterogeneity.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21608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840480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IN-CONTEXT MODEL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Pre-trained on synthetic causal problems, not tuned to this dataset — a bias-driven, variance-independent control.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721608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3840480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INTERACTION FOREST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One model on [X, T, X·T]; pools information across arms, compresses weak interactions toward zero.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21608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2F3F4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72983" y="3840480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WHY FIVE?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Not “which is best” — a result that survives all five stops being attributable to any single algorithm's quirks.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Validating what can never be observed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METHOD —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6126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7A7A7A"/>
                </a:solidFill>
                <a:latin typeface="Arial"/>
              </a:rPr>
              <a:t>●  </a:t>
            </a:r>
            <a:r>
              <a:rPr sz="1350">
                <a:solidFill>
                  <a:srgbClr val="3C3C3C"/>
                </a:solidFill>
                <a:latin typeface="Arial"/>
              </a:rPr>
              <a:t>τ(x) is never observed for </a:t>
            </a:r>
            <a:r>
              <a:rPr b="1" sz="1350">
                <a:solidFill>
                  <a:srgbClr val="000000"/>
                </a:solidFill>
                <a:latin typeface="Arial"/>
              </a:rPr>
              <a:t>any</a:t>
            </a:r>
            <a:r>
              <a:rPr sz="1350">
                <a:solidFill>
                  <a:srgbClr val="3C3C3C"/>
                </a:solidFill>
                <a:latin typeface="Arial"/>
              </a:rPr>
              <a:t> patient — CATE can't be checked prediction-vs-truth like a risk model.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7A7A7A"/>
                </a:solidFill>
                <a:latin typeface="Arial"/>
              </a:rPr>
              <a:t>●  </a:t>
            </a:r>
            <a:r>
              <a:rPr sz="1350">
                <a:solidFill>
                  <a:srgbClr val="3C3C3C"/>
                </a:solidFill>
                <a:latin typeface="Arial"/>
              </a:rPr>
              <a:t>Instead, validate the </a:t>
            </a:r>
            <a:r>
              <a:rPr b="1" sz="1350">
                <a:solidFill>
                  <a:srgbClr val="000000"/>
                </a:solidFill>
                <a:latin typeface="Arial"/>
              </a:rPr>
              <a:t>ranking</a:t>
            </a:r>
            <a:r>
              <a:rPr sz="1350">
                <a:solidFill>
                  <a:srgbClr val="3C3C3C"/>
                </a:solidFill>
                <a:latin typeface="Arial"/>
              </a:rPr>
              <a:t>: the TOC curve — treat the top q%, gain vs. treating everyone. </a:t>
            </a:r>
            <a:r>
              <a:rPr b="1" sz="1350">
                <a:solidFill>
                  <a:srgbClr val="000000"/>
                </a:solidFill>
                <a:latin typeface="Arial"/>
              </a:rPr>
              <a:t>AUTOC</a:t>
            </a:r>
            <a:r>
              <a:rPr sz="1350">
                <a:solidFill>
                  <a:srgbClr val="3C3C3C"/>
                </a:solidFill>
                <a:latin typeface="Arial"/>
              </a:rPr>
              <a:t> weights the head of the ranking, where the decision happens.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7A7A7A"/>
                </a:solidFill>
                <a:latin typeface="Arial"/>
              </a:rPr>
              <a:t>●  </a:t>
            </a:r>
            <a:r>
              <a:rPr sz="1350">
                <a:solidFill>
                  <a:srgbClr val="3C3C3C"/>
                </a:solidFill>
                <a:latin typeface="Arial"/>
              </a:rPr>
              <a:t>Evaluation is doubly-robust, plus a group-calibration check between estimated and observed CATE bands.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7A7A7A"/>
                </a:solidFill>
                <a:latin typeface="Arial"/>
              </a:rPr>
              <a:t>●  </a:t>
            </a:r>
            <a:r>
              <a:rPr sz="1350">
                <a:solidFill>
                  <a:srgbClr val="3C3C3C"/>
                </a:solidFill>
                <a:latin typeface="Arial"/>
              </a:rPr>
              <a:t>Hyperparameters are tuned on the </a:t>
            </a:r>
            <a:r>
              <a:rPr b="1" sz="1350">
                <a:solidFill>
                  <a:srgbClr val="000000"/>
                </a:solidFill>
                <a:latin typeface="Arial"/>
              </a:rPr>
              <a:t>same</a:t>
            </a:r>
            <a:r>
              <a:rPr sz="1350">
                <a:solidFill>
                  <a:srgbClr val="3C3C3C"/>
                </a:solidFill>
                <a:latin typeface="Arial"/>
              </a:rPr>
              <a:t> metric used to validate — the model is trained for exactly the objective that matters.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2423160"/>
            <a:ext cx="4206240" cy="28346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2904" y="2542032"/>
            <a:ext cx="3913631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THE NOISE FLOOR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Even a random CATE produces some ranking dispersion. So: permute the treatment labels, re-run the whole pipeline — that distribution is chance. A result counts only if it clears </a:t>
            </a:r>
            <a:r>
              <a:rPr b="1" sz="1100">
                <a:solidFill>
                  <a:srgbClr val="000000"/>
                </a:solidFill>
                <a:latin typeface="Arial"/>
              </a:rPr>
              <a:t>this floor</a:t>
            </a:r>
            <a:r>
              <a:rPr sz="1100">
                <a:solidFill>
                  <a:srgbClr val="3C3C3C"/>
                </a:solidFill>
                <a:latin typeface="Arial"/>
              </a:rPr>
              <a:t>, not zero.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The positive control: the tools work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24F2C"/>
                </a:solidFill>
                <a:latin typeface="Arial"/>
              </a:rPr>
              <a:t>●  </a:t>
            </a:r>
            <a:r>
              <a:rPr sz="1000" b="1">
                <a:solidFill>
                  <a:srgbClr val="B24F2C"/>
                </a:solidFill>
                <a:latin typeface="Arial"/>
              </a:rPr>
              <a:t>RESULTS —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3C3C3C"/>
                </a:solidFill>
                <a:latin typeface="Arial"/>
              </a:rPr>
              <a:t>All five estimator families independently recover the trial's average effect.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36576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B24F2C"/>
                </a:solidFill>
                <a:latin typeface="Times New Roman"/>
              </a:rPr>
              <a:t>+0.045 → +0.055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954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A7A7A"/>
                </a:solidFill>
                <a:latin typeface="Arial"/>
              </a:rPr>
              <a:t>BLEEDING CATE, MEAN (ABBREVIATING HELPS)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97480"/>
            <a:ext cx="27432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215F73"/>
                </a:solidFill>
                <a:latin typeface="Times New Roman"/>
              </a:rPr>
              <a:t>≈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20954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A7A7A"/>
                </a:solidFill>
                <a:latin typeface="Arial"/>
              </a:rPr>
              <a:t>ISCHAEMIC CATE, MEAN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697480"/>
            <a:ext cx="27432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000000"/>
                </a:solidFill>
                <a:latin typeface="Times New Roman"/>
              </a:rPr>
              <a:t>5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0954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A7A7A"/>
                </a:solidFill>
                <a:latin typeface="Arial"/>
              </a:rPr>
              <a:t>ESTIMATOR FAMILIES AGREE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60520"/>
            <a:ext cx="32004" cy="914400"/>
          </a:xfrm>
          <a:prstGeom prst="rect">
            <a:avLst/>
          </a:prstGeom>
          <a:solidFill>
            <a:srgbClr val="B24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105656"/>
            <a:ext cx="8503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Consistent with the published trial, across five families that make different mistakes. The average effect is not in question.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The negative result: no heterogeneity above chance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15F73"/>
                </a:solidFill>
                <a:latin typeface="Arial"/>
              </a:rPr>
              <a:t>●  </a:t>
            </a:r>
            <a:r>
              <a:rPr sz="1000" b="1">
                <a:solidFill>
                  <a:srgbClr val="215F73"/>
                </a:solidFill>
                <a:latin typeface="Arial"/>
              </a:rPr>
              <a:t>RESULTS —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215F73"/>
                </a:solidFill>
                <a:latin typeface="Arial"/>
              </a:rPr>
              <a:t>●  </a:t>
            </a:r>
            <a:r>
              <a:rPr sz="1400">
                <a:solidFill>
                  <a:srgbClr val="3C3C3C"/>
                </a:solidFill>
                <a:latin typeface="Arial"/>
              </a:rPr>
              <a:t>Individual CATE dispersion sits </a:t>
            </a:r>
            <a:r>
              <a:rPr b="1" sz="1400">
                <a:solidFill>
                  <a:srgbClr val="000000"/>
                </a:solidFill>
                <a:latin typeface="Arial"/>
              </a:rPr>
              <a:t>on</a:t>
            </a:r>
            <a:r>
              <a:rPr sz="1400">
                <a:solidFill>
                  <a:srgbClr val="3C3C3C"/>
                </a:solidFill>
                <a:latin typeface="Arial"/>
              </a:rPr>
              <a:t> the permutation noise floor, not above it.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215F73"/>
                </a:solidFill>
                <a:latin typeface="Arial"/>
              </a:rPr>
              <a:t>●  </a:t>
            </a:r>
            <a:r>
              <a:rPr sz="1400">
                <a:solidFill>
                  <a:srgbClr val="3C3C3C"/>
                </a:solidFill>
                <a:latin typeface="Arial"/>
              </a:rPr>
              <a:t>AUTOC is compatible with zero; credible bands cover the ATE across the whole ranking.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215F73"/>
                </a:solidFill>
                <a:latin typeface="Arial"/>
              </a:rPr>
              <a:t>●  </a:t>
            </a:r>
            <a:r>
              <a:rPr sz="1400">
                <a:solidFill>
                  <a:srgbClr val="3C3C3C"/>
                </a:solidFill>
                <a:latin typeface="Arial"/>
              </a:rPr>
              <a:t>Holds for </a:t>
            </a:r>
            <a:r>
              <a:rPr b="1" sz="1400">
                <a:solidFill>
                  <a:srgbClr val="000000"/>
                </a:solidFill>
                <a:latin typeface="Arial"/>
              </a:rPr>
              <a:t>all five</a:t>
            </a:r>
            <a:r>
              <a:rPr sz="1400">
                <a:solidFill>
                  <a:srgbClr val="3C3C3C"/>
                </a:solidFill>
                <a:latin typeface="Arial"/>
              </a:rPr>
              <a:t> independent estimator families.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06240"/>
            <a:ext cx="32004" cy="1280160"/>
          </a:xfrm>
          <a:prstGeom prst="rect">
            <a:avLst/>
          </a:prstGeom>
          <a:solidFill>
            <a:srgbClr val="215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51376"/>
            <a:ext cx="548640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Not “I found nothing” — “I searched with tools proven to work, and there is nothing.”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37376" y="1828800"/>
            <a:ext cx="5047488" cy="19385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TE_placebo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75104"/>
            <a:ext cx="475488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37376" y="3822191"/>
            <a:ext cx="5047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50">
                <a:solidFill>
                  <a:srgbClr val="7A7A7A"/>
                </a:solidFill>
                <a:latin typeface="Arial"/>
              </a:rPr>
              <a:t>Observed sd(τ(x)) (red) overlapping the placebo floor (grey) — bleeding and BARC 2/3/5.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Four zones, fixed clinical meanings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METHOD — COMBINING TWO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53492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7A7A7A"/>
                </a:solidFill>
                <a:latin typeface="Arial"/>
              </a:rPr>
              <a:t>●  </a:t>
            </a:r>
            <a:r>
              <a:rPr sz="1350">
                <a:solidFill>
                  <a:srgbClr val="3C3C3C"/>
                </a:solidFill>
                <a:latin typeface="Arial"/>
              </a:rPr>
              <a:t>Both axes are the effect of </a:t>
            </a:r>
            <a:r>
              <a:rPr b="1" sz="1350">
                <a:solidFill>
                  <a:srgbClr val="000000"/>
                </a:solidFill>
                <a:latin typeface="Arial"/>
              </a:rPr>
              <a:t>abbreviating</a:t>
            </a:r>
            <a:r>
              <a:rPr sz="1350">
                <a:solidFill>
                  <a:srgbClr val="3C3C3C"/>
                </a:solidFill>
                <a:latin typeface="Arial"/>
              </a:rPr>
              <a:t> DAPT, oriented so positive always means abbreviating helps.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7A7A7A"/>
                </a:solidFill>
                <a:latin typeface="Arial"/>
              </a:rPr>
              <a:t>●  </a:t>
            </a:r>
            <a:r>
              <a:rPr b="1" sz="1350">
                <a:solidFill>
                  <a:srgbClr val="000000"/>
                </a:solidFill>
                <a:latin typeface="Arial"/>
              </a:rPr>
              <a:t>Win-win</a:t>
            </a:r>
            <a:r>
              <a:rPr sz="1350">
                <a:solidFill>
                  <a:srgbClr val="3C3C3C"/>
                </a:solidFill>
                <a:latin typeface="Arial"/>
              </a:rPr>
              <a:t> (top-right) and </a:t>
            </a:r>
            <a:r>
              <a:rPr b="1" sz="1350">
                <a:solidFill>
                  <a:srgbClr val="000000"/>
                </a:solidFill>
                <a:latin typeface="Arial"/>
              </a:rPr>
              <a:t>lose-lose</a:t>
            </a:r>
            <a:r>
              <a:rPr sz="1350">
                <a:solidFill>
                  <a:srgbClr val="3C3C3C"/>
                </a:solidFill>
                <a:latin typeface="Arial"/>
              </a:rPr>
              <a:t> (bottom-left): the two outcomes agree, so one trial-wide rule — abbreviate, or don't — is already correct for every patient in that zone.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7A7A7A"/>
                </a:solidFill>
                <a:latin typeface="Arial"/>
              </a:rPr>
              <a:t>●  </a:t>
            </a:r>
            <a:r>
              <a:rPr sz="1350">
                <a:solidFill>
                  <a:srgbClr val="3C3C3C"/>
                </a:solidFill>
                <a:latin typeface="Arial"/>
              </a:rPr>
              <a:t>The two off-diagonal zones disagree: abbreviating helps one outcome and costs the other. That is a genuine </a:t>
            </a:r>
            <a:r>
              <a:rPr b="1" sz="1350">
                <a:solidFill>
                  <a:srgbClr val="000000"/>
                </a:solidFill>
                <a:latin typeface="Arial"/>
              </a:rPr>
              <a:t>trade-off</a:t>
            </a:r>
            <a:r>
              <a:rPr sz="1350">
                <a:solidFill>
                  <a:srgbClr val="3C3C3C"/>
                </a:solidFill>
                <a:latin typeface="Arial"/>
              </a:rPr>
              <a:t>, and its mirror image.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7A7A7A"/>
                </a:solidFill>
                <a:latin typeface="Arial"/>
              </a:rPr>
              <a:t>●  </a:t>
            </a:r>
            <a:r>
              <a:rPr sz="1350">
                <a:solidFill>
                  <a:srgbClr val="3C3C3C"/>
                </a:solidFill>
                <a:latin typeface="Arial"/>
              </a:rPr>
              <a:t>Only there does the right choice depend on </a:t>
            </a:r>
            <a:r>
              <a:rPr b="1" sz="1350">
                <a:solidFill>
                  <a:srgbClr val="000000"/>
                </a:solidFill>
                <a:latin typeface="Arial"/>
              </a:rPr>
              <a:t>who the patient is</a:t>
            </a:r>
            <a:r>
              <a:rPr sz="1350">
                <a:solidFill>
                  <a:srgbClr val="3C3C3C"/>
                </a:solidFill>
                <a:latin typeface="Arial"/>
              </a:rPr>
              <a:t> — the zone a personalized rule has to find, tested against real data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257800"/>
            <a:ext cx="32004" cy="10972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202936"/>
            <a:ext cx="5166359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i="1">
                <a:solidFill>
                  <a:srgbClr val="000000"/>
                </a:solidFill>
                <a:latin typeface="Times New Roman"/>
              </a:rPr>
              <a:t>The relative weight given to each outcome is a clinical judgement, not a statistical one — this thesis uses 0.2 death / 0.4 MI / 0.4 stroke, set by the study's clinicians.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9856" y="1783080"/>
            <a:ext cx="4748207" cy="43159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TE_tradeoff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160" y="1929384"/>
            <a:ext cx="4455599" cy="402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9856" y="6153912"/>
            <a:ext cx="47482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50">
                <a:solidFill>
                  <a:srgbClr val="7A7A7A"/>
                </a:solidFill>
                <a:latin typeface="Arial"/>
              </a:rPr>
              <a:t>Bottom-right = abbreviating prevents bleeds but costs ischaemic events — “depends on the patient.”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Where is the dilemma patient?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RESULTS — THE TRADE-OFF PLANE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5" y="1828800"/>
            <a:ext cx="6967728" cy="328814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TE_tradeoff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975104"/>
            <a:ext cx="6675120" cy="29955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5" y="5171809"/>
            <a:ext cx="69677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50">
                <a:solidFill>
                  <a:srgbClr val="7A7A7A"/>
                </a:solidFill>
                <a:latin typeface="Arial"/>
              </a:rPr>
              <a:t>Every patient placed by bleeding-benefit (x) and ischaemic-benefit (y) of abbreviating.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96596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3C3C3C"/>
                </a:solidFill>
                <a:latin typeface="Arial"/>
              </a:rPr>
              <a:t>A personalized rule only pays off if a quadrant of real dilemma cases exists — large gain on one axis, real harm on the other.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429000"/>
            <a:ext cx="32004" cy="1280160"/>
          </a:xfrm>
          <a:prstGeom prst="rect">
            <a:avLst/>
          </a:prstGeom>
          <a:solidFill>
            <a:srgbClr val="B24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3374136"/>
            <a:ext cx="365760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Instead: a compact cloud around the trial's average effect. No quadrant to split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Even the weaker question gives the same answer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RESULTS — DECISION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>
                <a:solidFill>
                  <a:srgbClr val="3C3C3C"/>
                </a:solidFill>
                <a:latin typeface="Arial"/>
              </a:rPr>
              <a:t>Not “does the model rank well” — </a:t>
            </a:r>
            <a:r>
              <a:rPr b="1" sz="1450">
                <a:solidFill>
                  <a:srgbClr val="000000"/>
                </a:solidFill>
                <a:latin typeface="Arial"/>
              </a:rPr>
              <a:t>does following the ranking produce a measurable clinical gain</a:t>
            </a:r>
            <a:r>
              <a:rPr sz="1450">
                <a:solidFill>
                  <a:srgbClr val="3C3C3C"/>
                </a:solidFill>
                <a:latin typeface="Arial"/>
              </a:rPr>
              <a:t>, evaluated with cross-fitted AIPW policy value.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80360"/>
            <a:ext cx="331927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2999232"/>
            <a:ext cx="302666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BEST RULE VS. EVERYONE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No rule beats “abbreviate for everyone.” Net-neutral.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880360"/>
            <a:ext cx="331927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52544" y="2999232"/>
            <a:ext cx="302666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7 PRE-SPECIFIED SUBGROUPS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Bleeding risk, ACS, diabetes, renal function, age, anaemia, OAC — none exclude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880360"/>
            <a:ext cx="331927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72983" y="2999232"/>
            <a:ext cx="302666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TRADE-OFF FRONTIER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Risk-magnification frontier is empty at every bleeding/ischaemic weight.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The minimum detectable δ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RESULTS — HOW SURE ARE WE?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5" y="1828800"/>
            <a:ext cx="6556248" cy="377944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lta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975104"/>
            <a:ext cx="6263640" cy="34868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5" y="5663110"/>
            <a:ext cx="65562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50">
                <a:solidFill>
                  <a:srgbClr val="7A7A7A"/>
                </a:solidFill>
                <a:latin typeface="Arial"/>
              </a:rPr>
              <a:t>Synthetic heterogeneity of known size δ, injected and re-estimated; compared against the floor recomputed at the same 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965960"/>
            <a:ext cx="22631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ENDPOINT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4060" y="1965960"/>
            <a:ext cx="18516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Δ*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60920" y="2276856"/>
            <a:ext cx="4114800" cy="1270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2350008"/>
            <a:ext cx="22631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B24F2C"/>
                </a:solidFill>
                <a:latin typeface="Arial"/>
              </a:rPr>
              <a:t>Bleeding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4060" y="2350008"/>
            <a:ext cx="18516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B24F2C"/>
                </a:solidFill>
                <a:latin typeface="Arial"/>
              </a:rPr>
              <a:t>0.05 risk-diff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2679191"/>
            <a:ext cx="411480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2734056"/>
            <a:ext cx="22631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B24F2C"/>
                </a:solidFill>
                <a:latin typeface="Arial"/>
              </a:rPr>
              <a:t>BARC 2/3/5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4060" y="2734056"/>
            <a:ext cx="18516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B24F2C"/>
                </a:solidFill>
                <a:latin typeface="Arial"/>
              </a:rPr>
              <a:t>0.05 risk-diff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3063239"/>
            <a:ext cx="411480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3118103"/>
            <a:ext cx="22631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4060" y="3118103"/>
            <a:ext cx="18516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OR 3.0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3447287"/>
            <a:ext cx="411480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3502151"/>
            <a:ext cx="22631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CV death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4060" y="3502151"/>
            <a:ext cx="18516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215F73"/>
                </a:solidFill>
                <a:latin typeface="Arial"/>
              </a:rPr>
              <a:t>OR 5.0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3831336"/>
            <a:ext cx="411480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4206240"/>
            <a:ext cx="32004" cy="1554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4151376"/>
            <a:ext cx="393192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On bleeding, δ* ≈ the entire average effect. It was not found — that is not the same claim as it does not exist.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Not just “nothing found” — a mechanism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WHY — THREE CONVERGING EXPLANATIONS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3319272" cy="19202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221991"/>
            <a:ext cx="302666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01 · CANCELLATION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The aggregate ischaemic score sums MI and stroke, which move in </a:t>
            </a:r>
            <a:r>
              <a:rPr b="1" sz="1100">
                <a:solidFill>
                  <a:srgbClr val="000000"/>
                </a:solidFill>
                <a:latin typeface="Arial"/>
              </a:rPr>
              <a:t>opposite directions</a:t>
            </a:r>
            <a:r>
              <a:rPr sz="1100">
                <a:solidFill>
                  <a:srgbClr val="3C3C3C"/>
                </a:solidFill>
                <a:latin typeface="Arial"/>
              </a:rPr>
              <a:t> — the sum hides both.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103120"/>
            <a:ext cx="3319272" cy="19202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2221991"/>
            <a:ext cx="302666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02 · RANGE RESTRICTION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Enrolling only high-bleeding-risk patients compresses bleeding-risk variance before any model sees a datum — the same cause behind the ch.5 anomaly.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2103120"/>
            <a:ext cx="3319272" cy="19202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2983" y="2221991"/>
            <a:ext cx="302666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03 · RARE EVENTS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MI, death, stroke: 35–109 events. Three endpoints of five are </a:t>
            </a:r>
            <a:r>
              <a:rPr b="1" sz="1100">
                <a:solidFill>
                  <a:srgbClr val="000000"/>
                </a:solidFill>
                <a:latin typeface="Arial"/>
              </a:rPr>
              <a:t>not measurable</a:t>
            </a:r>
            <a:r>
              <a:rPr sz="1100">
                <a:solidFill>
                  <a:srgbClr val="3C3C3C"/>
                </a:solidFill>
                <a:latin typeface="Arial"/>
              </a:rPr>
              <a:t> here, not “flat.”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389120"/>
            <a:ext cx="32004" cy="10058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334256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The same feature of the trial's design — range restriction on bleeding risk — explains both the ch.5 predictive anomaly and the ch.6 absence of heterogeneity.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Guided enrolment: an exploitability test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TESTING IT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61264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7A7A7A"/>
                </a:solidFill>
                <a:latin typeface="Arial"/>
              </a:rPr>
              <a:t>●  </a:t>
            </a:r>
            <a:r>
              <a:rPr sz="1400">
                <a:solidFill>
                  <a:srgbClr val="3C3C3C"/>
                </a:solidFill>
                <a:latin typeface="Arial"/>
              </a:rPr>
              <a:t>5 enrolment mechanisms — whole-pool, partially-random, duel, UCB1, Thompson — scored by several policies over </a:t>
            </a:r>
            <a:r>
              <a:rPr b="1" sz="1400">
                <a:solidFill>
                  <a:srgbClr val="000000"/>
                </a:solidFill>
                <a:latin typeface="Arial"/>
              </a:rPr>
              <a:t>100 paired cohorts</a:t>
            </a:r>
            <a:r>
              <a:rPr sz="1400">
                <a:solidFill>
                  <a:srgbClr val="3C3C3C"/>
                </a:solidFill>
                <a:latin typeface="Arial"/>
              </a:rPr>
              <a:t>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7A7A7A"/>
                </a:solidFill>
                <a:latin typeface="Arial"/>
              </a:rPr>
              <a:t>●  </a:t>
            </a:r>
            <a:r>
              <a:rPr sz="1400">
                <a:solidFill>
                  <a:srgbClr val="3C3C3C"/>
                </a:solidFill>
                <a:latin typeface="Arial"/>
              </a:rPr>
              <a:t>Mechanisms </a:t>
            </a:r>
            <a:r>
              <a:rPr b="1" sz="1400">
                <a:solidFill>
                  <a:srgbClr val="000000"/>
                </a:solidFill>
                <a:latin typeface="Arial"/>
              </a:rPr>
              <a:t>do</a:t>
            </a:r>
            <a:r>
              <a:rPr sz="1400">
                <a:solidFill>
                  <a:srgbClr val="3C3C3C"/>
                </a:solidFill>
                <a:latin typeface="Arial"/>
              </a:rPr>
              <a:t> move the enrolled cohort on the estimated-CATE plane, stably and distinguishably from random.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7A7A7A"/>
                </a:solidFill>
                <a:latin typeface="Arial"/>
              </a:rPr>
              <a:t>●  </a:t>
            </a:r>
            <a:r>
              <a:rPr sz="1400">
                <a:solidFill>
                  <a:srgbClr val="3C3C3C"/>
                </a:solidFill>
                <a:latin typeface="Arial"/>
              </a:rPr>
              <a:t>On </a:t>
            </a:r>
            <a:r>
              <a:rPr b="1" sz="1400">
                <a:solidFill>
                  <a:srgbClr val="000000"/>
                </a:solidFill>
                <a:latin typeface="Arial"/>
              </a:rPr>
              <a:t>observed outcomes</a:t>
            </a:r>
            <a:r>
              <a:rPr sz="1400">
                <a:solidFill>
                  <a:srgbClr val="3C3C3C"/>
                </a:solidFill>
                <a:latin typeface="Arial"/>
              </a:rPr>
              <a:t>, the shift is ≈ zero — even for the adaptive bandits.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2240280"/>
            <a:ext cx="4206240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2904" y="2359152"/>
            <a:ext cx="3913631" cy="2048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Ρ ≈ 0.91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Win-win score correlates with the bleeding axis alone — confirms the cancellation.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6177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3C3C3C"/>
                </a:solidFill>
                <a:latin typeface="Arial"/>
              </a:rPr>
              <a:t>The adaptive cohort still loses to a plain randomized trial at equal enrolled 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166360"/>
            <a:ext cx="32004" cy="640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96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i="1">
                <a:solidFill>
                  <a:srgbClr val="000000"/>
                </a:solidFill>
                <a:latin typeface="Times New Roman"/>
              </a:rPr>
              <a:t>The machinery selects well on a signal that does not exist.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Mechanism 1: it moves the cohort, on both axes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TESTING IT END-TO-END — MECHANISM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7A7A7A"/>
                </a:solidFill>
                <a:latin typeface="Arial"/>
              </a:rPr>
              <a:t>Sees the whole remaining pool every round; each policy vs. the random control, at n = 3,500 (100 seeded runs).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299008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2606040"/>
            <a:ext cx="174421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ISCH. Δ (PP)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0105" y="2606040"/>
            <a:ext cx="174421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4323" y="2606040"/>
            <a:ext cx="174421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BLEED Δ (PP)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8542" y="2606040"/>
            <a:ext cx="174421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7A7A7A"/>
                </a:solidFill>
                <a:latin typeface="Arial"/>
              </a:rPr>
              <a:t>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916936"/>
            <a:ext cx="9966960" cy="1270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990088"/>
            <a:ext cx="299008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Conflict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990088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−0.16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0105" y="2990088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&lt;0.001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4323" y="2990088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−0.07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8542" y="2990088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0.139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282696"/>
            <a:ext cx="996696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337560"/>
            <a:ext cx="299008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Net-benefit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7" y="3337560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−0.01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0105" y="3337560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0.944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323" y="3337560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+0.19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8542" y="3337560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&lt;0.001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630168"/>
            <a:ext cx="996696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685032"/>
            <a:ext cx="299008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Angle net-benefit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75887" y="3685032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−0.02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0105" y="3685032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0.770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4323" y="3685032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+0.17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8542" y="3685032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0.004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3977640"/>
            <a:ext cx="996696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32504"/>
            <a:ext cx="299008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Angle conflict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5887" y="4032504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−0.20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20105" y="4032504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&lt;0.001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4323" y="4032504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−0.13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8542" y="4032504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0.003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325112"/>
            <a:ext cx="996696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379976"/>
            <a:ext cx="299008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−isch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75887" y="4379976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−0.12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20105" y="4379976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0.013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64323" y="4379976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−0.14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8542" y="4379976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0.006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672584"/>
            <a:ext cx="996696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727448"/>
            <a:ext cx="299008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+isch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75887" y="4727448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+0.03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20105" y="4727448"/>
            <a:ext cx="1744217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0.245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64323" y="4727448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+0.17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08542" y="4727448"/>
            <a:ext cx="174421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Arial"/>
              </a:rPr>
              <a:t>0.002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5020056"/>
            <a:ext cx="9966960" cy="9525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5349240"/>
            <a:ext cx="32004" cy="914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5294376"/>
            <a:ext cx="9784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Real, significant movement on both axes for most policies — but Mechanism 1's own model only modestly correlates with the tuned causal forest, weaker still on bleeding.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The table's shape: crossing counts, separating rates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TESTING IT END-TO-END — MECHANISM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5" y="1645920"/>
            <a:ext cx="10351008" cy="319033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licy_comparison_ischaemic_patients_only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792224"/>
            <a:ext cx="10058400" cy="28977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89204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b="1" sz="1200">
                <a:solidFill>
                  <a:srgbClr val="000000"/>
                </a:solidFill>
                <a:latin typeface="Arial"/>
              </a:rPr>
              <a:t>Top row</a:t>
            </a:r>
            <a:r>
              <a:rPr sz="1200">
                <a:solidFill>
                  <a:srgbClr val="3C3C3C"/>
                </a:solidFill>
                <a:latin typeface="Arial"/>
              </a:rPr>
              <a:t>: cumulative counts — enrolled (red) rises, left-out (orange) falls, simply because the enrolled arm keeps growing.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b="1" sz="1200">
                <a:solidFill>
                  <a:srgbClr val="000000"/>
                </a:solidFill>
                <a:latin typeface="Arial"/>
              </a:rPr>
              <a:t>Bottom row</a:t>
            </a:r>
            <a:r>
              <a:rPr sz="1200">
                <a:solidFill>
                  <a:srgbClr val="3C3C3C"/>
                </a:solidFill>
                <a:latin typeface="Arial"/>
              </a:rPr>
              <a:t> is what matters: ischaemic </a:t>
            </a:r>
            <a:r>
              <a:rPr b="1" sz="1200">
                <a:solidFill>
                  <a:srgbClr val="000000"/>
                </a:solidFill>
                <a:latin typeface="Arial"/>
              </a:rPr>
              <a:t>event rate (%)</a:t>
            </a:r>
            <a:r>
              <a:rPr sz="1200">
                <a:solidFill>
                  <a:srgbClr val="3C3C3C"/>
                </a:solidFill>
                <a:latin typeface="Arial"/>
              </a:rPr>
              <a:t>, enrolled vs. left-out, 95% CI over 100 runs.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489204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Conflict and Angle conflict separate visibly and stay separated — matches the table's p &lt; 0.001.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Net-benefit, Angle net-benefit and random overlap fully — no separation, Δ ≈ 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What each policy actually selects, on the same plane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TESTING IT END-TO-END — SCORING POLICIES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5" y="1737360"/>
            <a:ext cx="6419088" cy="3504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lection_frequency_by_policy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83664"/>
            <a:ext cx="6126480" cy="3212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5" y="5297064"/>
            <a:ext cx="64190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50">
                <a:solidFill>
                  <a:srgbClr val="7A7A7A"/>
                </a:solidFill>
                <a:latin typeface="Arial"/>
              </a:rPr>
              <a:t>500 refits of the same forest — brighter = a patient is picked more often by that policy's score.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828800"/>
            <a:ext cx="4434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950">
                <a:solidFill>
                  <a:srgbClr val="7A7A7A"/>
                </a:solidFill>
                <a:latin typeface="Arial"/>
              </a:rPr>
              <a:t>●  </a:t>
            </a:r>
            <a:r>
              <a:rPr sz="1250">
                <a:solidFill>
                  <a:srgbClr val="3C3C3C"/>
                </a:solidFill>
                <a:latin typeface="Arial"/>
              </a:rPr>
              <a:t>Same bleed/isch trade-off plane as slides 13-14, one panel per scoring policy, colored by how often 500 independent refits pick that patient.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950">
                <a:solidFill>
                  <a:srgbClr val="7A7A7A"/>
                </a:solidFill>
                <a:latin typeface="Arial"/>
              </a:rPr>
              <a:t>●  </a:t>
            </a:r>
            <a:r>
              <a:rPr sz="1250">
                <a:solidFill>
                  <a:srgbClr val="3C3C3C"/>
                </a:solidFill>
                <a:latin typeface="Arial"/>
              </a:rPr>
              <a:t>Each policy's own decision rule shows up as a sharp boundary — Conflict and Angle conflict cut near the </a:t>
            </a:r>
            <a:r>
              <a:rPr b="1" sz="1250">
                <a:solidFill>
                  <a:srgbClr val="000000"/>
                </a:solidFill>
                <a:latin typeface="Arial"/>
              </a:rPr>
              <a:t>−45°</a:t>
            </a:r>
            <a:r>
              <a:rPr sz="1250">
                <a:solidFill>
                  <a:srgbClr val="3C3C3C"/>
                </a:solidFill>
                <a:latin typeface="Arial"/>
              </a:rPr>
              <a:t> diagonal, Net-benefit and Angle net-benefit near </a:t>
            </a:r>
            <a:r>
              <a:rPr b="1" sz="1250">
                <a:solidFill>
                  <a:srgbClr val="000000"/>
                </a:solidFill>
                <a:latin typeface="Arial"/>
              </a:rPr>
              <a:t>+45°</a:t>
            </a:r>
            <a:r>
              <a:rPr sz="1250">
                <a:solidFill>
                  <a:srgbClr val="3C3C3C"/>
                </a:solidFill>
                <a:latin typeface="Arial"/>
              </a:rPr>
              <a:t>, ±isch cut along the y-axis alone.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950">
                <a:solidFill>
                  <a:srgbClr val="7A7A7A"/>
                </a:solidFill>
                <a:latin typeface="Arial"/>
              </a:rPr>
              <a:t>●  </a:t>
            </a:r>
            <a:r>
              <a:rPr sz="1250">
                <a:solidFill>
                  <a:srgbClr val="3C3C3C"/>
                </a:solidFill>
                <a:latin typeface="Arial"/>
              </a:rPr>
              <a:t>The boundary is stable, not noisy — confirms slide 18's claim that mechanisms move the cohort </a:t>
            </a:r>
            <a:r>
              <a:rPr b="1" sz="1250">
                <a:solidFill>
                  <a:srgbClr val="000000"/>
                </a:solidFill>
                <a:latin typeface="Arial"/>
              </a:rPr>
              <a:t>stably and distinguishably from random</a:t>
            </a:r>
            <a:r>
              <a:rPr sz="1250">
                <a:solidFill>
                  <a:srgbClr val="3C3C3C"/>
                </a:solidFill>
                <a:latin typeface="Arial"/>
              </a:rPr>
              <a:t>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950">
                <a:solidFill>
                  <a:srgbClr val="7A7A7A"/>
                </a:solidFill>
                <a:latin typeface="Arial"/>
              </a:rPr>
              <a:t>●  </a:t>
            </a:r>
            <a:r>
              <a:rPr sz="1250">
                <a:solidFill>
                  <a:srgbClr val="3C3C3C"/>
                </a:solidFill>
                <a:latin typeface="Arial"/>
              </a:rPr>
              <a:t>Stable is not the same as useful: slide 14 already showed this plane has no dilemma quadrant for any of these boundaries to isolate.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Same test, scored on MI alone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TESTING IT END-TO-END — MECHANISM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5" y="1645920"/>
            <a:ext cx="10351008" cy="31861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licy_comparison_ischaemic_patients_only_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792224"/>
            <a:ext cx="10058400" cy="28935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89204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Same Mechanism 1 test as the last two slides, but the score now sees </a:t>
            </a:r>
            <a:r>
              <a:rPr b="1" sz="1200">
                <a:solidFill>
                  <a:srgbClr val="000000"/>
                </a:solidFill>
                <a:latin typeface="Arial"/>
              </a:rPr>
              <a:t>only</a:t>
            </a:r>
            <a:r>
              <a:rPr sz="1200">
                <a:solidFill>
                  <a:srgbClr val="3C3C3C"/>
                </a:solidFill>
                <a:latin typeface="Arial"/>
              </a:rPr>
              <a:t> the MI component (weight 1 on MI, 0 on death/stroke) instead of the 0.2/0.4/0.4 composite.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The outcome plotted is unchanged — the composite ischaemic rate (death + MI + stroke) — so this checks whether MI-only scoring still moves the same real endpoint.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489204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Net-benefit and Angle net-benefit now separate too — flat under the composite score on slide 20, but enrolled and left-out visibly diverge 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+isch shows the largest gap of any policy or weighting tried — exploratory, same 100-run averaging as the main result, but not yet reduced to a significance table like slide 19's.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Same test, scored on stroke alone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TESTING IT END-TO-END — MECHANISM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5" y="1645920"/>
            <a:ext cx="10351008" cy="3188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licy_comparison_ischaemic_patients_only_str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792224"/>
            <a:ext cx="10058400" cy="2895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89204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Same Mechanism 1 test as the last three slides, but the score now sees </a:t>
            </a:r>
            <a:r>
              <a:rPr b="1" sz="1200">
                <a:solidFill>
                  <a:srgbClr val="000000"/>
                </a:solidFill>
                <a:latin typeface="Arial"/>
              </a:rPr>
              <a:t>only</a:t>
            </a:r>
            <a:r>
              <a:rPr sz="1200">
                <a:solidFill>
                  <a:srgbClr val="3C3C3C"/>
                </a:solidFill>
                <a:latin typeface="Arial"/>
              </a:rPr>
              <a:t> the stroke component (weight 1 on stroke, 0 on death/MI) instead of the 0.2/0.4/0.4 composite.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The outcome plotted is unchanged — the composite ischaemic rate (death + MI + stroke) — so this checks whether stroke-only scoring still moves the same real endpoint.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489204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Net-benefit and Angle net-benefit separate here too, much like the MI-only weighting on the previous slide — flat only under the full composite score on slide 20.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7A7A7A"/>
                </a:solidFill>
                <a:latin typeface="Arial"/>
              </a:rPr>
              <a:t>●  </a:t>
            </a:r>
            <a:r>
              <a:rPr sz="1200">
                <a:solidFill>
                  <a:srgbClr val="3C3C3C"/>
                </a:solidFill>
                <a:latin typeface="Arial"/>
              </a:rPr>
              <a:t>+isch again shows the largest gap — exploratory, same 100-run averaging as the main result, but not yet reduced to a significance table like slide 19's.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Six claims, each independently supported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CONCLUSIONS — WHAT HOLDS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221991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AVERAGE EFFECT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Confirmed by five independent estimators.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103120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2221991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NO HETEROGENEITY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Validated against the </a:t>
            </a:r>
            <a:r>
              <a:rPr b="1" sz="1100">
                <a:solidFill>
                  <a:srgbClr val="000000"/>
                </a:solidFill>
                <a:latin typeface="Arial"/>
              </a:rPr>
              <a:t>noise floor</a:t>
            </a:r>
            <a:r>
              <a:rPr sz="1100">
                <a:solidFill>
                  <a:srgbClr val="3C3C3C"/>
                </a:solidFill>
                <a:latin typeface="Arial"/>
              </a:rPr>
              <a:t>, not against zero.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2103120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2983" y="2221991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CONFIRMED TWICE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ch.7's observed events reach the same conclusion, without touching a single estimated CATE.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21608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840480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COHORT, NOT TOOLS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The limit is shown twice — by the positive control and by δ*.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721608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3840480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KNOWN MECHANISM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b="1" sz="1100">
                <a:solidFill>
                  <a:srgbClr val="000000"/>
                </a:solidFill>
                <a:latin typeface="Arial"/>
              </a:rPr>
              <a:t>HBR range restriction</a:t>
            </a:r>
            <a:r>
              <a:rPr sz="1100">
                <a:solidFill>
                  <a:srgbClr val="3C3C3C"/>
                </a:solidFill>
                <a:latin typeface="Arial"/>
              </a:rPr>
              <a:t> — also explains the ch.5 predictive anomaly.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21608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72983" y="3840480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TWO REUSABLE LESSONS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Selecting ≠ allocating; linear scores collapse onto the higher-variance axis.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What doesn't hold, said before it's asked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CONCLUSIONS —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9966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sz="1500">
                <a:solidFill>
                  <a:srgbClr val="3C3C3C"/>
                </a:solidFill>
                <a:latin typeface="Arial"/>
              </a:rPr>
              <a:t>δ* = 0.05 is </a:t>
            </a:r>
            <a:r>
              <a:rPr b="1" sz="1500">
                <a:solidFill>
                  <a:srgbClr val="000000"/>
                </a:solidFill>
                <a:latin typeface="Arial"/>
              </a:rPr>
              <a:t>large</a:t>
            </a:r>
            <a:r>
              <a:rPr sz="1500">
                <a:solidFill>
                  <a:srgbClr val="3C3C3C"/>
                </a:solidFill>
                <a:latin typeface="Arial"/>
              </a:rPr>
              <a:t> — these data exclude heterogeneity the size of the whole ATE, not any heterogeneity.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b="1" sz="1500">
                <a:solidFill>
                  <a:srgbClr val="000000"/>
                </a:solidFill>
                <a:latin typeface="Arial"/>
              </a:rPr>
              <a:t>3 of 5 endpoints</a:t>
            </a:r>
            <a:r>
              <a:rPr sz="1500">
                <a:solidFill>
                  <a:srgbClr val="3C3C3C"/>
                </a:solidFill>
                <a:latin typeface="Arial"/>
              </a:rPr>
              <a:t> (35–109 events) are not assessable at all — “not measurable,” not “absent.”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sz="1500">
                <a:solidFill>
                  <a:srgbClr val="3C3C3C"/>
                </a:solidFill>
                <a:latin typeface="Arial"/>
              </a:rPr>
              <a:t>Stroke sensitivity analysis is not yet interpretable.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sz="1500">
                <a:solidFill>
                  <a:srgbClr val="3C3C3C"/>
                </a:solidFill>
                <a:latin typeface="Arial"/>
              </a:rPr>
              <a:t>Subgroup analyses are in-sample and descriptive; no external cohort; multiplicity declared but not formally corrected.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The infrastructure is ready — the cohort wasn't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WHERE TO ASK THE SAME QUESTION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9966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sz="1500">
                <a:solidFill>
                  <a:srgbClr val="3C3C3C"/>
                </a:solidFill>
                <a:latin typeface="Arial"/>
              </a:rPr>
              <a:t>A cohort </a:t>
            </a:r>
            <a:r>
              <a:rPr b="1" sz="1500">
                <a:solidFill>
                  <a:srgbClr val="000000"/>
                </a:solidFill>
                <a:latin typeface="Arial"/>
              </a:rPr>
              <a:t>not</a:t>
            </a:r>
            <a:r>
              <a:rPr sz="1500">
                <a:solidFill>
                  <a:srgbClr val="3C3C3C"/>
                </a:solidFill>
                <a:latin typeface="Arial"/>
              </a:rPr>
              <a:t> selected purely on bleeding risk — where the bleeding axis keeps its full variance.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sz="1500">
                <a:solidFill>
                  <a:srgbClr val="3C3C3C"/>
                </a:solidFill>
                <a:latin typeface="Arial"/>
              </a:rPr>
              <a:t>Longer follow-up, or a higher-ischaemic-risk population — 35 stroke events measure nothing, whatever the estimator.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200">
                <a:solidFill>
                  <a:srgbClr val="7A7A7A"/>
                </a:solidFill>
                <a:latin typeface="Arial"/>
              </a:rPr>
              <a:t>●  </a:t>
            </a:r>
            <a:r>
              <a:rPr sz="1500">
                <a:solidFill>
                  <a:srgbClr val="3C3C3C"/>
                </a:solidFill>
                <a:latin typeface="Arial"/>
              </a:rPr>
              <a:t>A trial </a:t>
            </a:r>
            <a:r>
              <a:rPr b="1" sz="1500">
                <a:solidFill>
                  <a:srgbClr val="000000"/>
                </a:solidFill>
                <a:latin typeface="Arial"/>
              </a:rPr>
              <a:t>sized on the interaction</a:t>
            </a:r>
            <a:r>
              <a:rPr sz="1500">
                <a:solidFill>
                  <a:srgbClr val="3C3C3C"/>
                </a:solidFill>
                <a:latin typeface="Arial"/>
              </a:rPr>
              <a:t>, not the average effect — δ* is exactly the tool to pre-register that target.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617720"/>
            <a:ext cx="32004" cy="1188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562856"/>
            <a:ext cx="9784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i="1">
                <a:solidFill>
                  <a:srgbClr val="000000"/>
                </a:solidFill>
                <a:latin typeface="Times New Roman"/>
              </a:rPr>
              <a:t>The guided-enrolment machinery of ch.7 is built, measured, and already equipped with its two known failure modes — ready for a cohort where heterogeneity actually exists.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6AC655A-B948-3845-9718-225A35B93A26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7A7A7A"/>
                </a:solidFill>
              </a:rPr>
              <a:t>●  </a:t>
            </a:r>
            <a:r>
              <a:rPr sz="1100" b="1">
                <a:solidFill>
                  <a:srgbClr val="7A7A7A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880360"/>
            <a:ext cx="121916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2838C8"/>
                </a:solidFill>
                <a:latin typeface="Times New Roman"/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977639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i="1">
                <a:solidFill>
                  <a:srgbClr val="3C3C3C"/>
                </a:solidFill>
                <a:latin typeface="Times New Roman"/>
              </a:rPr>
              <a:t>Tommaso Pioda · CATE Estimation and Use in the MASTER DAPT Study</a:t>
            </a:r>
          </a:p>
          <a:p>
            <a:pPr algn="ctr">
              <a:lnSpc>
                <a:spcPct val="130000"/>
              </a:lnSpc>
            </a:pPr>
            <a:r>
              <a:rPr sz="1400" i="1">
                <a:solidFill>
                  <a:srgbClr val="3C3C3C"/>
                </a:solidFill>
                <a:latin typeface="Times New Roman"/>
              </a:rPr>
              <a:t>Supervisor: Prof. Laura Azzimonti — Co-supervisor: Gabriele Maroni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Terms used without stopping to define them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BACKUP — GLOSSARY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221991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AUTOC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Area under the TOC curve, weighted toward its top — the region a treat-the-top-q% decision actually 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103120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2221991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TOC CURVE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Targeting Operator Characteristic: gain from treating the top q% ranked by estimated CATE, vs. treating everyone.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2103120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2983" y="2221991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DOUBLY-ROBUST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Consistent if either the outcome model or the propensity model is correct, not both — protects the evaluation from either being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21608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840480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AIPW POLICY VALUE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Augmented inverse-propensity-weighted estimate of the outcome under a decision rule — the metric behind ch.6's decision-value results.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721608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3840480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HONEST SPLITS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A causal forest splits the covariate space on one subsample and estimates effects on another, so the same data never both proposes and confirms a split.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721608"/>
            <a:ext cx="3319272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72983" y="3840480"/>
            <a:ext cx="3026664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GROUP CALIBRATION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Checks that patients binned by estimated CATE show the same ordering in their observed outcomes — a coarse validation the AUTOC ranking can't provide alone.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2838C8"/>
                </a:solidFill>
                <a:latin typeface="Times New Roman"/>
              </a:rPr>
              <a:t>Checks already run, not shown in the main talk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A58E6A3-EE58-2141-81FA-5FF13F4CE80A}" type="datetime1">
              <a:rPr lang="it-IT" altLang="x-none" smtClean="0"/>
              <a:pPr/>
              <a:t>01/12/23</a:t>
            </a:fld>
            <a:endParaRPr lang="it-IT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sz="900">
                <a:solidFill>
                  <a:srgbClr val="7A7A7A"/>
                </a:solidFill>
                <a:latin typeface="Arial"/>
              </a:rPr>
              <a:t>CATE Estimation and Use in the MASTER DAPT Study · T. Pioda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0467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41C78"/>
                </a:solidFill>
                <a:latin typeface="Arial"/>
              </a:rPr>
              <a:t>●  </a:t>
            </a:r>
            <a:r>
              <a:rPr sz="1000" b="1">
                <a:solidFill>
                  <a:srgbClr val="141C78"/>
                </a:solidFill>
                <a:latin typeface="Arial"/>
              </a:rPr>
              <a:t>BACKUP — ADDITIONAL ROBUSTNESS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3319272" cy="19202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221991"/>
            <a:ext cx="302666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CF FLEXIBILITY PRESETS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Regularized, medium, and flexible causal-forest fits all collapse to zero heterogeneity (ch.6) — not an artefact of one hyperparameter choice.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103120"/>
            <a:ext cx="3319272" cy="19202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2221991"/>
            <a:ext cx="302666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COVARIATE DISCRETIZATION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Coarsening every covariate into 4 ordinal bins and refitting reaches the same conclusion (ch.6) — heterogeneity isn't hiding in a continuous-vs-binned assumption.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2103120"/>
            <a:ext cx="3319272" cy="19202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2983" y="2221991"/>
            <a:ext cx="302666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41C78"/>
                </a:solidFill>
                <a:latin typeface="Arial"/>
              </a:rPr>
              <a:t>STROKE, SPECIFICALLY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C3C3C"/>
                </a:solidFill>
                <a:latin typeface="Arial"/>
              </a:rPr>
              <a:t>35 events fail the sensitivity analysis's own null-calibration check (ch.8) — no interpretable δ* exists for it, not "not yet run."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SI">
  <a:themeElements>
    <a:clrScheme name="SUPSI">
      <a:dk1>
        <a:srgbClr val="000000"/>
      </a:dk1>
      <a:lt1>
        <a:srgbClr val="FFFFFF"/>
      </a:lt1>
      <a:dk2>
        <a:srgbClr val="3C3C3C"/>
      </a:dk2>
      <a:lt2>
        <a:srgbClr val="D2D2D2"/>
      </a:lt2>
      <a:accent1>
        <a:srgbClr val="141C78"/>
      </a:accent1>
      <a:accent2>
        <a:srgbClr val="2838C8"/>
      </a:accent2>
      <a:accent3>
        <a:srgbClr val="0063C8"/>
      </a:accent3>
      <a:accent4>
        <a:srgbClr val="0096FF"/>
      </a:accent4>
      <a:accent5>
        <a:srgbClr val="46A01E"/>
      </a:accent5>
      <a:accent6>
        <a:srgbClr val="8CD23C"/>
      </a:accent6>
      <a:hlink>
        <a:srgbClr val="197BFF"/>
      </a:hlink>
      <a:folHlink>
        <a:srgbClr val="090F38"/>
      </a:folHlink>
    </a:clrScheme>
    <a:fontScheme name="SUPSI">
      <a:majorFont>
        <a:latin typeface="Times New Roman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</a:spPr>
      <a:bodyPr lIns="0" tIns="0" rIns="0" bIns="0">
        <a:prstTxWarp prst="textNoShape">
          <a:avLst/>
        </a:prstTxWarp>
      </a:bodyPr>
      <a:lstStyle>
        <a:defPPr eaLnBrk="0" hangingPunct="0">
          <a:spcBef>
            <a:spcPct val="20000"/>
          </a:spcBef>
          <a:defRPr sz="1400" kern="0" dirty="0" smtClean="0">
            <a:latin typeface="+mn-lt"/>
            <a:ea typeface="ＭＳ Ｐゴシック" pitchFamily="-112" charset="-128"/>
            <a:cs typeface="ＭＳ Ｐゴシック" pitchFamily="-112" charset="-128"/>
          </a:defRPr>
        </a:defPPr>
      </a:lstStyle>
    </a:txDef>
  </a:objectDefaults>
  <a:extraClrSchemeLst>
    <a:extraClrScheme>
      <a:clrScheme name="SUPSI_DSA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owerpoint_DTI_1" id="{F91FF7CD-2C06-0C4C-9B51-908D33578364}" vid="{F2BC787C-9F2E-7E44-AE90-DE803E0CB40C}"/>
    </a:ext>
  </a:extLst>
</a:theme>
</file>

<file path=ppt/theme/theme2.xml><?xml version="1.0" encoding="utf-8"?>
<a:theme xmlns:a="http://schemas.openxmlformats.org/drawingml/2006/main" name="Tema di Office">
  <a:themeElements>
    <a:clrScheme name="SUPSI 1">
      <a:dk1>
        <a:srgbClr val="000000"/>
      </a:dk1>
      <a:lt1>
        <a:sysClr val="window" lastClr="FFFFFF"/>
      </a:lt1>
      <a:dk2>
        <a:srgbClr val="141C64"/>
      </a:dk2>
      <a:lt2>
        <a:srgbClr val="FFFFFF"/>
      </a:lt2>
      <a:accent1>
        <a:srgbClr val="141C78"/>
      </a:accent1>
      <a:accent2>
        <a:srgbClr val="2838C8"/>
      </a:accent2>
      <a:accent3>
        <a:srgbClr val="0063C8"/>
      </a:accent3>
      <a:accent4>
        <a:srgbClr val="0096FF"/>
      </a:accent4>
      <a:accent5>
        <a:srgbClr val="46A01E"/>
      </a:accent5>
      <a:accent6>
        <a:srgbClr val="8CD23C"/>
      </a:accent6>
      <a:hlink>
        <a:srgbClr val="000000"/>
      </a:hlink>
      <a:folHlink>
        <a:srgbClr val="646464"/>
      </a:folHlink>
    </a:clrScheme>
    <a:fontScheme name="SUPSI">
      <a:majorFont>
        <a:latin typeface="Times New Roman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werpoint_DTI_1" id="{F91FF7CD-2C06-0C4C-9B51-908D33578364}" vid="{5041F21F-7BAF-2A43-BF23-4A303AC3B5A1}"/>
    </a:ext>
  </a:extLst>
</a:theme>
</file>

<file path=ppt/theme/theme3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SUPSI</Template>
  <TotalTime>2</TotalTime>
  <Words>13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</vt:i4>
      </vt:variant>
    </vt:vector>
  </HeadingPairs>
  <TitlesOfParts>
    <vt:vector size="5" baseType="lpstr">
      <vt:lpstr>Arial</vt:lpstr>
      <vt:lpstr>Times New Roman</vt:lpstr>
      <vt:lpstr>SUPSI</vt:lpstr>
      <vt:lpstr>Tema di Office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Carrara Fabienne</dc:creator>
  <cp:lastModifiedBy>Carrara Fabienne</cp:lastModifiedBy>
  <cp:revision>1</cp:revision>
  <dcterms:created xsi:type="dcterms:W3CDTF">2023-12-01T13:06:39Z</dcterms:created>
  <dcterms:modified xsi:type="dcterms:W3CDTF">2023-12-01T13:09:10Z</dcterms:modified>
</cp:coreProperties>
</file>