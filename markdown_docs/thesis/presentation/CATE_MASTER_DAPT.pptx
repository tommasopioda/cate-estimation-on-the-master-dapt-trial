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01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onsolas"/>
              </a:rPr>
              <a:t>SUPSI · DTI — DIPLOMA THESIS      ●  bleeding      ●  ischaemia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1B2023"/>
                </a:solidFill>
                <a:latin typeface="Georgia"/>
              </a:rPr>
              <a:t>CATE Estimation and Use in the MASTER DAPT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1">
                <a:solidFill>
                  <a:srgbClr val="4A5257"/>
                </a:solidFill>
                <a:latin typeface="Georgia"/>
              </a:rPr>
              <a:t>Can we find, validate, and act on individual treatment effect heterogeneity in a randomized cardiology trial — and if we can't, why not?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CANDIDATE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B2023"/>
                </a:solidFill>
                <a:latin typeface="Calibri"/>
              </a:rPr>
              <a:t>Tommaso Pioda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44805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SUPERVISOR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B2023"/>
                </a:solidFill>
                <a:latin typeface="Calibri"/>
              </a:rPr>
              <a:t>Prof. Laura Azzimonti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44805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CO-SUPERVISOR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B2023"/>
                </a:solidFill>
                <a:latin typeface="Calibri"/>
              </a:rPr>
              <a:t>Gabriele Maroni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44805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CLIENT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B2023"/>
                </a:solidFill>
                <a:latin typeface="Calibri"/>
              </a:rPr>
              <a:t>EOC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4805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PROGRAMME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B2023"/>
                </a:solidFill>
                <a:latin typeface="Calibri"/>
              </a:rPr>
              <a:t>Data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02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One trial, two ways to be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>
                <a:solidFill>
                  <a:srgbClr val="4A5257"/>
                </a:solidFill>
                <a:latin typeface="Calibri"/>
              </a:rPr>
              <a:t>After a coronary stent, dual antiplatelet therapy (DAPT) sits on two axes that pull in opposite directions: longer therapy protects against ischaemic events, shorter therapy protects against bleeding.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>
                <a:solidFill>
                  <a:srgbClr val="4A5257"/>
                </a:solidFill>
                <a:latin typeface="Calibri"/>
              </a:rPr>
              <a:t>MASTER DAPT randomized 4,579 high-bleeding-risk patients between abbreviated and prolonged DAPT, and concluded in favour of abbreviation — non-inferior on ischaemia, superior on bleeding.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97680"/>
            <a:ext cx="32004" cy="91440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42816"/>
            <a:ext cx="58521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That is an average result. A favourable trial-level effect is compatible with subgroups that gain nothing — or are harmed.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03120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B24F2C"/>
                </a:solidFill>
                <a:latin typeface="Georgia"/>
              </a:rPr>
              <a:t>↓ bleeding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6151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ABBREVIATED DAPT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215F73"/>
                </a:solidFill>
                <a:latin typeface="Georgia"/>
              </a:rPr>
              <a:t>↑ ischaemia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8386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IF THERAPY IS TOO SHORT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03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Why “treat the highest-risk patient” is not an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A risk model ranks patients by </a:t>
            </a:r>
            <a:r>
              <a:rPr b="1" sz="1500">
                <a:solidFill>
                  <a:srgbClr val="1B2023"/>
                </a:solidFill>
                <a:latin typeface="Calibri"/>
              </a:rPr>
              <a:t>P(event | treatment received)</a:t>
            </a:r>
            <a:r>
              <a:rPr sz="1500">
                <a:solidFill>
                  <a:srgbClr val="4A5257"/>
                </a:solidFill>
                <a:latin typeface="Calibri"/>
              </a:rPr>
              <a:t> — one world, the one we observed.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A treatment decision needs the </a:t>
            </a:r>
            <a:r>
              <a:rPr b="1" sz="1500">
                <a:solidFill>
                  <a:srgbClr val="1B2023"/>
                </a:solidFill>
                <a:latin typeface="Calibri"/>
              </a:rPr>
              <a:t>difference between two worlds</a:t>
            </a:r>
            <a:r>
              <a:rPr sz="1500">
                <a:solidFill>
                  <a:srgbClr val="4A5257"/>
                </a:solidFill>
                <a:latin typeface="Calibri"/>
              </a:rPr>
              <a:t>, and only one of them is ever observed for any patient. This is the fundamental problem of causal inference.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The highest-risk patient may gain the most from shortening therapy, the least, or be harmed by it — risk alone cannot tell the three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754880"/>
            <a:ext cx="32004" cy="54864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0001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000" i="1">
                <a:solidFill>
                  <a:srgbClr val="1B2023"/>
                </a:solidFill>
                <a:latin typeface="Georgia"/>
              </a:rPr>
              <a:t>Risk does not rank benefit.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04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Two questions, in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221991"/>
            <a:ext cx="4828031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Q1 — ESTIMATE &amp; VALIDATE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Can the individual treatment effect (CATE) be estimated at all — and, since the true individual effect is never observed, can it be </a:t>
            </a:r>
            <a:r>
              <a:rPr b="1" sz="1100">
                <a:solidFill>
                  <a:srgbClr val="1B2023"/>
                </a:solidFill>
                <a:latin typeface="Calibri"/>
              </a:rPr>
              <a:t>validated</a:t>
            </a:r>
            <a:r>
              <a:rPr sz="1100">
                <a:solidFill>
                  <a:srgbClr val="4A5257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10312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35624" y="2221991"/>
            <a:ext cx="4828031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Q2 — EXPLOIT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If a credible effect exists, can enrolment be </a:t>
            </a:r>
            <a:r>
              <a:rPr b="1" sz="1100">
                <a:solidFill>
                  <a:srgbClr val="1B2023"/>
                </a:solidFill>
                <a:latin typeface="Calibri"/>
              </a:rPr>
              <a:t>concentrated</a:t>
            </a:r>
            <a:r>
              <a:rPr sz="1100">
                <a:solidFill>
                  <a:srgbClr val="4A5257"/>
                </a:solidFill>
                <a:latin typeface="Calibri"/>
              </a:rPr>
              <a:t> on the patients where it is visible — reaching the same precision with fewer patients?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43400"/>
            <a:ext cx="32004" cy="91440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88536"/>
            <a:ext cx="9692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Five estimator families answer Q1. Five enrolment mechanisms answer Q2 — once Q1's answer changes what Q2 has to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05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METHOD —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Five estimator families, chosen to err differently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176272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META-LEARNER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Two outcome models, one per arm; CATE is their difference. Simple, inherits every model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57400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2176272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CAUSAL FOREST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Estimates heterogeneity directly; double ML removes confounding, honest splits avoid overstating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057400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2983" y="2176272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BAYESIAN CAUSAL FOREST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Regularizes the effect surface separately from the prognostic one — a confounder can't disguise itself as heterogeneity.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75887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794759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IN-CONTEXT MODEL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Pre-trained on synthetic causal problems, not tuned to this dataset — a bias-driven, variance-independent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675887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3794759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INTERACTION FOREST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One model on [X, T, X·T]; pools information across arms, compresses weak interactions toward zero.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675887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E9EAE4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2983" y="3794759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WHY FIVE?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Not “which is best” — a result that survives all five stops being attributable to any single algorithm's quirks.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06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METHOD —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Validating what can never be observed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B8388"/>
                </a:solidFill>
                <a:latin typeface="Calibri"/>
              </a:rPr>
              <a:t>●  </a:t>
            </a:r>
            <a:r>
              <a:rPr sz="1350">
                <a:solidFill>
                  <a:srgbClr val="4A5257"/>
                </a:solidFill>
                <a:latin typeface="Calibri"/>
              </a:rPr>
              <a:t>τ(x) is never observed for </a:t>
            </a:r>
            <a:r>
              <a:rPr b="1" sz="1350">
                <a:solidFill>
                  <a:srgbClr val="1B2023"/>
                </a:solidFill>
                <a:latin typeface="Calibri"/>
              </a:rPr>
              <a:t>any</a:t>
            </a:r>
            <a:r>
              <a:rPr sz="1350">
                <a:solidFill>
                  <a:srgbClr val="4A5257"/>
                </a:solidFill>
                <a:latin typeface="Calibri"/>
              </a:rPr>
              <a:t> patient — CATE can't be checked prediction-vs-truth like a risk model.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B8388"/>
                </a:solidFill>
                <a:latin typeface="Calibri"/>
              </a:rPr>
              <a:t>●  </a:t>
            </a:r>
            <a:r>
              <a:rPr sz="1350">
                <a:solidFill>
                  <a:srgbClr val="4A5257"/>
                </a:solidFill>
                <a:latin typeface="Calibri"/>
              </a:rPr>
              <a:t>Instead, validate the </a:t>
            </a:r>
            <a:r>
              <a:rPr b="1" sz="1350">
                <a:solidFill>
                  <a:srgbClr val="1B2023"/>
                </a:solidFill>
                <a:latin typeface="Calibri"/>
              </a:rPr>
              <a:t>ranking</a:t>
            </a:r>
            <a:r>
              <a:rPr sz="1350">
                <a:solidFill>
                  <a:srgbClr val="4A5257"/>
                </a:solidFill>
                <a:latin typeface="Calibri"/>
              </a:rPr>
              <a:t>: the TOC curve — treat the top q%, gain vs. treating everyone. </a:t>
            </a:r>
            <a:r>
              <a:rPr b="1" sz="1350">
                <a:solidFill>
                  <a:srgbClr val="1B2023"/>
                </a:solidFill>
                <a:latin typeface="Calibri"/>
              </a:rPr>
              <a:t>AUTOC</a:t>
            </a:r>
            <a:r>
              <a:rPr sz="1350">
                <a:solidFill>
                  <a:srgbClr val="4A5257"/>
                </a:solidFill>
                <a:latin typeface="Calibri"/>
              </a:rPr>
              <a:t> weights the head of the ranking, where the decision happens.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B8388"/>
                </a:solidFill>
                <a:latin typeface="Calibri"/>
              </a:rPr>
              <a:t>●  </a:t>
            </a:r>
            <a:r>
              <a:rPr sz="1350">
                <a:solidFill>
                  <a:srgbClr val="4A5257"/>
                </a:solidFill>
                <a:latin typeface="Calibri"/>
              </a:rPr>
              <a:t>Evaluation is doubly-robust, plus a group-calibration check between estimated and observed CATE bands.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B8388"/>
                </a:solidFill>
                <a:latin typeface="Calibri"/>
              </a:rPr>
              <a:t>●  </a:t>
            </a:r>
            <a:r>
              <a:rPr sz="1350">
                <a:solidFill>
                  <a:srgbClr val="4A5257"/>
                </a:solidFill>
                <a:latin typeface="Calibri"/>
              </a:rPr>
              <a:t>Hyperparameters are tuned on the </a:t>
            </a:r>
            <a:r>
              <a:rPr b="1" sz="1350">
                <a:solidFill>
                  <a:srgbClr val="1B2023"/>
                </a:solidFill>
                <a:latin typeface="Calibri"/>
              </a:rPr>
              <a:t>same</a:t>
            </a:r>
            <a:r>
              <a:rPr sz="1350">
                <a:solidFill>
                  <a:srgbClr val="4A5257"/>
                </a:solidFill>
                <a:latin typeface="Calibri"/>
              </a:rPr>
              <a:t> metric used to validate — the model is trained for exactly the objective that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377440"/>
            <a:ext cx="4206240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2904" y="2496312"/>
            <a:ext cx="3913631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THE NOISE FLOOR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Even a random CATE produces some ranking dispersion. So: permute the treatment labels, re-run the whole pipeline — that distribution is chance. A result counts only if it clears </a:t>
            </a:r>
            <a:r>
              <a:rPr b="1" sz="1100">
                <a:solidFill>
                  <a:srgbClr val="1B2023"/>
                </a:solidFill>
                <a:latin typeface="Calibri"/>
              </a:rPr>
              <a:t>this floor</a:t>
            </a:r>
            <a:r>
              <a:rPr sz="1100">
                <a:solidFill>
                  <a:srgbClr val="4A5257"/>
                </a:solidFill>
                <a:latin typeface="Calibri"/>
              </a:rPr>
              <a:t>, not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07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CASE STUDY —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MASTER DAPT: the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2816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ENDPOINT (335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2152" y="2103120"/>
            <a:ext cx="11265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8692" y="2103120"/>
            <a:ext cx="117774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14015"/>
            <a:ext cx="5120640" cy="12700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Calibri"/>
              </a:rPr>
              <a:t>Bleeding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487168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Consolas"/>
              </a:rPr>
              <a:t>506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8692" y="2487168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Consolas"/>
              </a:rPr>
              <a:t>11.1%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16351"/>
            <a:ext cx="512064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71215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1B2023"/>
                </a:solidFill>
                <a:latin typeface="Calibri"/>
              </a:rPr>
              <a:t>BARC 2/3/5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871215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1B2023"/>
                </a:solidFill>
                <a:latin typeface="Consolas"/>
              </a:rPr>
              <a:t>359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8692" y="2871215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1B2023"/>
                </a:solidFill>
                <a:latin typeface="Consolas"/>
              </a:rPr>
              <a:t>7.8%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00399"/>
            <a:ext cx="512064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55263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alibri"/>
              </a:rPr>
              <a:t>Myocardial infarction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255263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109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8692" y="3255263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2.4%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584447"/>
            <a:ext cx="512064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39311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alibri"/>
              </a:rPr>
              <a:t>CV death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3639311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8692" y="3639311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1.8%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68496"/>
            <a:ext cx="512064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23359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alibri"/>
              </a:rPr>
              <a:t>Stroke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4023359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8692" y="4023359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0.8%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352544"/>
            <a:ext cx="512064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727447"/>
            <a:ext cx="32004" cy="118872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672583"/>
            <a:ext cx="49377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4,579 randomized · 63 baseline covariates · T=1 = prolonged, so CATE always reads as the benefit of shortening.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4884" y="1691640"/>
            <a:ext cx="3749511" cy="4087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asterdap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188" y="1837944"/>
            <a:ext cx="3456903" cy="3794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74884" y="5833872"/>
            <a:ext cx="37495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B8388"/>
                </a:solidFill>
                <a:latin typeface="Consolas"/>
              </a:rPr>
              <a:t>All 4,579 patients were enrolled because they were at high bleeding risk — a design criterion, not a coincidence.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08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CASE STUDY — RISK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A predictive anomaly, left open on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5" y="1783080"/>
            <a:ext cx="6693408" cy="30991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C_PR_out_of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929384"/>
            <a:ext cx="6400800" cy="28065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5" y="4937133"/>
            <a:ext cx="6693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B8388"/>
                </a:solidFill>
                <a:latin typeface="Consolas"/>
              </a:rPr>
              <a:t>Five endpoint-specific risk models, evaluated out-of-fold, threshold-free, over the whole cohort.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>
                <a:solidFill>
                  <a:srgbClr val="4A5257"/>
                </a:solidFill>
                <a:latin typeface="Calibri"/>
              </a:rPr>
              <a:t>If risk tracked event frequency, bleeding — 506 events — should be the easiest endpoint to predict. It is the hardest.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834640"/>
            <a:ext cx="1645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215F73"/>
                </a:solidFill>
                <a:latin typeface="Georgia"/>
              </a:rPr>
              <a:t>0.76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3467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CV DEATH · 81 EV.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834640"/>
            <a:ext cx="1645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215F73"/>
                </a:solidFill>
                <a:latin typeface="Georgia"/>
              </a:rPr>
              <a:t>0.72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33467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MI · 109 EV.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794760"/>
            <a:ext cx="1645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B24F2C"/>
                </a:solidFill>
                <a:latin typeface="Georgia"/>
              </a:rPr>
              <a:t>0.62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3068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BLEEDING · 506 EV.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4709160"/>
            <a:ext cx="32004" cy="100584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654296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Explained in full only in chapter 7 — the same cause reappears there for the causal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09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24F2C"/>
                </a:solidFill>
                <a:latin typeface="Calibri"/>
              </a:rPr>
              <a:t>●  </a:t>
            </a:r>
            <a:r>
              <a:rPr sz="1100" b="1">
                <a:solidFill>
                  <a:srgbClr val="B24F2C"/>
                </a:solidFill>
                <a:latin typeface="Consolas"/>
              </a:rPr>
              <a:t>RESULTS —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The positive control: the tools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A5257"/>
                </a:solidFill>
                <a:latin typeface="Calibri"/>
              </a:rPr>
              <a:t>All five estimator families independently recover the trial's average effect.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3657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B24F2C"/>
                </a:solidFill>
                <a:latin typeface="Georgia"/>
              </a:rPr>
              <a:t>+0.045 → +0.055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638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BLEEDING CATE, MEAN (ABBREVIATING HELPS)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651760"/>
            <a:ext cx="27432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215F73"/>
                </a:solidFill>
                <a:latin typeface="Georgia"/>
              </a:rPr>
              <a:t>≈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1638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ISCHAEMIC CATE,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651760"/>
            <a:ext cx="27432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B2023"/>
                </a:solidFill>
                <a:latin typeface="Georgia"/>
              </a:rPr>
              <a:t>5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1638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B8388"/>
                </a:solidFill>
                <a:latin typeface="Consolas"/>
              </a:rPr>
              <a:t>ESTIMATOR FAMILIES AGREE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14800"/>
            <a:ext cx="32004" cy="914400"/>
          </a:xfrm>
          <a:prstGeom prst="rect">
            <a:avLst/>
          </a:prstGeom>
          <a:solidFill>
            <a:srgbClr val="B24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59936"/>
            <a:ext cx="8503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Consistent with the published trial, across five families that make different mistakes. The average effect is not in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10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15F73"/>
                </a:solidFill>
                <a:latin typeface="Calibri"/>
              </a:rPr>
              <a:t>●  </a:t>
            </a:r>
            <a:r>
              <a:rPr sz="1100" b="1">
                <a:solidFill>
                  <a:srgbClr val="215F73"/>
                </a:solidFill>
                <a:latin typeface="Consolas"/>
              </a:rPr>
              <a:t>RESULTS —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The negative result: no heterogeneity above chance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215F73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Individual CATE dispersion sits </a:t>
            </a:r>
            <a:r>
              <a:rPr b="1" sz="1400">
                <a:solidFill>
                  <a:srgbClr val="1B2023"/>
                </a:solidFill>
                <a:latin typeface="Calibri"/>
              </a:rPr>
              <a:t>on</a:t>
            </a:r>
            <a:r>
              <a:rPr sz="1400">
                <a:solidFill>
                  <a:srgbClr val="4A5257"/>
                </a:solidFill>
                <a:latin typeface="Calibri"/>
              </a:rPr>
              <a:t> the permutation noise floor, not above it.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215F73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AUTOC is compatible with zero; credible bands cover the ATE across the whole ranking.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215F73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Holds for </a:t>
            </a:r>
            <a:r>
              <a:rPr b="1" sz="1400">
                <a:solidFill>
                  <a:srgbClr val="1B2023"/>
                </a:solidFill>
                <a:latin typeface="Calibri"/>
              </a:rPr>
              <a:t>all five</a:t>
            </a:r>
            <a:r>
              <a:rPr sz="1400">
                <a:solidFill>
                  <a:srgbClr val="4A5257"/>
                </a:solidFill>
                <a:latin typeface="Calibri"/>
              </a:rPr>
              <a:t> independent estimator families.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160520"/>
            <a:ext cx="32004" cy="1280160"/>
          </a:xfrm>
          <a:prstGeom prst="rect">
            <a:avLst/>
          </a:prstGeom>
          <a:solidFill>
            <a:srgbClr val="21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05656"/>
            <a:ext cx="54864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Not “I found nothing” — “I searched with tools proven to work, and there is nothing.”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7376" y="1783080"/>
            <a:ext cx="5047488" cy="19385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TE_placebo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9384"/>
            <a:ext cx="475488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37376" y="3776472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B8388"/>
                </a:solidFill>
                <a:latin typeface="Consolas"/>
              </a:rPr>
              <a:t>Observed sd(τ(x)) (red) overlapping the placebo floor (grey) — bleeding and BARC 2/3/5.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11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RESULTS — THE TRADE-OFF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Where is the dilemma patient?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5" y="1783080"/>
            <a:ext cx="6967728" cy="328378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TE_tradeoff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929384"/>
            <a:ext cx="6675120" cy="2991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5" y="5121730"/>
            <a:ext cx="6967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B8388"/>
                </a:solidFill>
                <a:latin typeface="Consolas"/>
              </a:rPr>
              <a:t>Every patient placed by bleeding-benefit (x) and ischaemic-benefit (y) of abbreviating.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4A5257"/>
                </a:solidFill>
                <a:latin typeface="Calibri"/>
              </a:rPr>
              <a:t>A personalized rule only pays off if a quadrant of real dilemma cases exists — large gain on one axis, real harm on the other.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383280"/>
            <a:ext cx="32004" cy="1280160"/>
          </a:xfrm>
          <a:prstGeom prst="rect">
            <a:avLst/>
          </a:prstGeom>
          <a:solidFill>
            <a:srgbClr val="B24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328416"/>
            <a:ext cx="36576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Instead: a compact cloud around the trial's average effect. No quadrant to split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12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RESULTS — DECISION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Even the weaker question gives the same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4A5257"/>
                </a:solidFill>
                <a:latin typeface="Calibri"/>
              </a:rPr>
              <a:t>Not “does the model rank well” — </a:t>
            </a:r>
            <a:r>
              <a:rPr b="1" sz="1450">
                <a:solidFill>
                  <a:srgbClr val="1B2023"/>
                </a:solidFill>
                <a:latin typeface="Calibri"/>
              </a:rPr>
              <a:t>does following the ranking produce a measurable clinical gain</a:t>
            </a:r>
            <a:r>
              <a:rPr sz="1450">
                <a:solidFill>
                  <a:srgbClr val="4A5257"/>
                </a:solidFill>
                <a:latin typeface="Calibri"/>
              </a:rPr>
              <a:t>, evaluated with cross-fitted AIPW policy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40"/>
            <a:ext cx="33192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953512"/>
            <a:ext cx="30266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BEST RULE VS. EVERYONE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No rule beats “abbreviate for everyone.” Net-neutral.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834640"/>
            <a:ext cx="33192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2953512"/>
            <a:ext cx="30266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7 PRE-SPECIFIED SUBGROUPS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Bleeding risk, ACS, diabetes, renal function, age, anaemia, OAC — none exclude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834640"/>
            <a:ext cx="33192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2953512"/>
            <a:ext cx="30266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TRADE-OFF FRONTIER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Risk-magnification frontier is empty at every bleeding/ischaemic weight.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13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RESULTS — HOW SURE ARE WE?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The minimum detectable 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5" y="1783080"/>
            <a:ext cx="6556248" cy="377944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lt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929384"/>
            <a:ext cx="6263640" cy="34868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5" y="5617390"/>
            <a:ext cx="6556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B8388"/>
                </a:solidFill>
                <a:latin typeface="Consolas"/>
              </a:rPr>
              <a:t>Synthetic heterogeneity of known size δ, injected and re-estimated; compared against the floor recomputed at the same 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920240"/>
            <a:ext cx="22631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4060" y="1920240"/>
            <a:ext cx="18516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Δ*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231136"/>
            <a:ext cx="4114800" cy="12700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304288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Calibri"/>
              </a:rPr>
              <a:t>Bleeding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4060" y="2304288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Consolas"/>
              </a:rPr>
              <a:t>0.05 risk-diff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633472"/>
            <a:ext cx="411480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688336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Calibri"/>
              </a:rPr>
              <a:t>BARC 2/3/5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4060" y="2688336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Consolas"/>
              </a:rPr>
              <a:t>0.05 risk-diff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017520"/>
            <a:ext cx="411480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3072384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alibri"/>
              </a:rPr>
              <a:t>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4060" y="3072384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OR 3.0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3401568"/>
            <a:ext cx="411480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3456432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alibri"/>
              </a:rPr>
              <a:t>CV death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4060" y="3456432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Consolas"/>
              </a:rPr>
              <a:t>OR 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785616"/>
            <a:ext cx="4114800" cy="9525"/>
          </a:xfrm>
          <a:prstGeom prst="rect">
            <a:avLst/>
          </a:prstGeom>
          <a:solidFill>
            <a:srgbClr val="D7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4160520"/>
            <a:ext cx="32004" cy="155448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4105656"/>
            <a:ext cx="39319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On bleeding, δ* ≈ the entire average effect. It was not found — that is not the same claim as it does not exist.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14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WHY — THREE CONVERGING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Not just “nothing found” — a mechanism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31927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176272"/>
            <a:ext cx="30266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01 · CANCELLATION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The aggregate ischaemic score sums MI and stroke, which move in </a:t>
            </a:r>
            <a:r>
              <a:rPr b="1" sz="1100">
                <a:solidFill>
                  <a:srgbClr val="1B2023"/>
                </a:solidFill>
                <a:latin typeface="Calibri"/>
              </a:rPr>
              <a:t>opposite directions</a:t>
            </a:r>
            <a:r>
              <a:rPr sz="1100">
                <a:solidFill>
                  <a:srgbClr val="4A5257"/>
                </a:solidFill>
                <a:latin typeface="Calibri"/>
              </a:rPr>
              <a:t> — the sum hides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57400"/>
            <a:ext cx="331927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2176272"/>
            <a:ext cx="30266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02 · RANGE RESTRICTION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Enrolling only high-bleeding-risk patients compresses bleeding-risk variance before any model sees a datum — the same cause behind the ch.5 anomaly.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057400"/>
            <a:ext cx="331927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2983" y="2176272"/>
            <a:ext cx="30266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03 · RARE EVENTS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MI, death, stroke: 35–109 events. Three endpoints of five are </a:t>
            </a:r>
            <a:r>
              <a:rPr b="1" sz="1100">
                <a:solidFill>
                  <a:srgbClr val="1B2023"/>
                </a:solidFill>
                <a:latin typeface="Calibri"/>
              </a:rPr>
              <a:t>not measurable</a:t>
            </a:r>
            <a:r>
              <a:rPr sz="1100">
                <a:solidFill>
                  <a:srgbClr val="4A5257"/>
                </a:solidFill>
                <a:latin typeface="Calibri"/>
              </a:rPr>
              <a:t> here, not “flat.”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43400"/>
            <a:ext cx="32004" cy="100584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88536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The same feature of the trial's design — range restriction on bleeding risk — explains both the ch.5 predictive anomaly and the ch.6 absence of heterogeneity.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15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TESTING IT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Guided enrolment: an exploitability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6126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7 acquisition mechanisms — offline ceiling, pairwise duel, UCB1 / Thompson bandits, whole-pool ranking, ±45° geometry — over </a:t>
            </a:r>
            <a:r>
              <a:rPr b="1" sz="1400">
                <a:solidFill>
                  <a:srgbClr val="1B2023"/>
                </a:solidFill>
                <a:latin typeface="Calibri"/>
              </a:rPr>
              <a:t>100 paired cohorts</a:t>
            </a:r>
            <a:r>
              <a:rPr sz="1400">
                <a:solidFill>
                  <a:srgbClr val="4A5257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Mechanisms </a:t>
            </a:r>
            <a:r>
              <a:rPr b="1" sz="1400">
                <a:solidFill>
                  <a:srgbClr val="1B2023"/>
                </a:solidFill>
                <a:latin typeface="Calibri"/>
              </a:rPr>
              <a:t>do</a:t>
            </a:r>
            <a:r>
              <a:rPr sz="1400">
                <a:solidFill>
                  <a:srgbClr val="4A5257"/>
                </a:solidFill>
                <a:latin typeface="Calibri"/>
              </a:rPr>
              <a:t> move the enrolled cohort on the estimated-CATE plane, stably and distinguishably from random.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On </a:t>
            </a:r>
            <a:r>
              <a:rPr b="1" sz="1400">
                <a:solidFill>
                  <a:srgbClr val="1B2023"/>
                </a:solidFill>
                <a:latin typeface="Calibri"/>
              </a:rPr>
              <a:t>observed outcomes</a:t>
            </a:r>
            <a:r>
              <a:rPr sz="1400">
                <a:solidFill>
                  <a:srgbClr val="4A5257"/>
                </a:solidFill>
                <a:latin typeface="Calibri"/>
              </a:rPr>
              <a:t>, the shift is ≈ zero — even for the adaptive bandits.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194560"/>
            <a:ext cx="420624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2904" y="2313432"/>
            <a:ext cx="3913631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B8388"/>
                </a:solidFill>
                <a:latin typeface="Consolas"/>
              </a:rPr>
              <a:t>Ρ ≈ 0.91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4A5257"/>
                </a:solidFill>
                <a:latin typeface="Calibri"/>
              </a:rPr>
              <a:t>Win-win score correlates with the bleeding axis alone — confirms the cancellation.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41605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A5257"/>
                </a:solidFill>
                <a:latin typeface="Calibri"/>
              </a:rPr>
              <a:t>The adaptive cohort still loses to a plain randomized trial at equal enrolled 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120640"/>
            <a:ext cx="32004" cy="64008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65776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i="1">
                <a:solidFill>
                  <a:srgbClr val="1B2023"/>
                </a:solidFill>
                <a:latin typeface="Georgia"/>
              </a:rPr>
              <a:t>The machinery selects well on a signal that does not exist.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16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CONCLUSIONS — WHAT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Six claims, each independently supported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966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The trial's </a:t>
            </a:r>
            <a:r>
              <a:rPr b="1" sz="1400">
                <a:solidFill>
                  <a:srgbClr val="1B2023"/>
                </a:solidFill>
                <a:latin typeface="Calibri"/>
              </a:rPr>
              <a:t>average effect</a:t>
            </a:r>
            <a:r>
              <a:rPr sz="1400">
                <a:solidFill>
                  <a:srgbClr val="4A5257"/>
                </a:solidFill>
                <a:latin typeface="Calibri"/>
              </a:rPr>
              <a:t> is confirmed by five independent estimators.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No exploitable heterogeneity — validated against the </a:t>
            </a:r>
            <a:r>
              <a:rPr b="1" sz="1400">
                <a:solidFill>
                  <a:srgbClr val="1B2023"/>
                </a:solidFill>
                <a:latin typeface="Calibri"/>
              </a:rPr>
              <a:t>noise floor</a:t>
            </a:r>
            <a:r>
              <a:rPr sz="1400">
                <a:solidFill>
                  <a:srgbClr val="4A5257"/>
                </a:solidFill>
                <a:latin typeface="Calibri"/>
              </a:rPr>
              <a:t>, not against zero.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The same conclusion arrives a </a:t>
            </a:r>
            <a:r>
              <a:rPr b="1" sz="1400">
                <a:solidFill>
                  <a:srgbClr val="1B2023"/>
                </a:solidFill>
                <a:latin typeface="Calibri"/>
              </a:rPr>
              <a:t>second time</a:t>
            </a:r>
            <a:r>
              <a:rPr sz="1400">
                <a:solidFill>
                  <a:srgbClr val="4A5257"/>
                </a:solidFill>
                <a:latin typeface="Calibri"/>
              </a:rPr>
              <a:t>, from ch.8's observed events, without touching a single estimated CATE.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The limit is in the </a:t>
            </a:r>
            <a:r>
              <a:rPr b="1" sz="1400">
                <a:solidFill>
                  <a:srgbClr val="1B2023"/>
                </a:solidFill>
                <a:latin typeface="Calibri"/>
              </a:rPr>
              <a:t>cohort</a:t>
            </a:r>
            <a:r>
              <a:rPr sz="1400">
                <a:solidFill>
                  <a:srgbClr val="4A5257"/>
                </a:solidFill>
                <a:latin typeface="Calibri"/>
              </a:rPr>
              <a:t>, not the tools — shown twice, by the positive control and by δ*.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The mechanism is known: </a:t>
            </a:r>
            <a:r>
              <a:rPr b="1" sz="1400">
                <a:solidFill>
                  <a:srgbClr val="1B2023"/>
                </a:solidFill>
                <a:latin typeface="Calibri"/>
              </a:rPr>
              <a:t>HBR range restriction</a:t>
            </a:r>
            <a:r>
              <a:rPr sz="1400">
                <a:solidFill>
                  <a:srgbClr val="4A5257"/>
                </a:solidFill>
                <a:latin typeface="Calibri"/>
              </a:rPr>
              <a:t>, which also explains the ch.5 predictive anomaly.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400">
                <a:solidFill>
                  <a:srgbClr val="4A5257"/>
                </a:solidFill>
                <a:latin typeface="Calibri"/>
              </a:rPr>
              <a:t>Two reusable findings beyond the case study: selecting ≠ allocating; linear scores collapse onto the higher-variance axis.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17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CONCLUSIONS —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What doesn't hold, said before it's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δ* = 0.05 is </a:t>
            </a:r>
            <a:r>
              <a:rPr b="1" sz="1500">
                <a:solidFill>
                  <a:srgbClr val="1B2023"/>
                </a:solidFill>
                <a:latin typeface="Calibri"/>
              </a:rPr>
              <a:t>large</a:t>
            </a:r>
            <a:r>
              <a:rPr sz="1500">
                <a:solidFill>
                  <a:srgbClr val="4A5257"/>
                </a:solidFill>
                <a:latin typeface="Calibri"/>
              </a:rPr>
              <a:t> — these data exclude heterogeneity the size of the whole ATE, not any heterogeneity.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b="1" sz="1500">
                <a:solidFill>
                  <a:srgbClr val="1B2023"/>
                </a:solidFill>
                <a:latin typeface="Calibri"/>
              </a:rPr>
              <a:t>3 of 5 endpoints</a:t>
            </a:r>
            <a:r>
              <a:rPr sz="1500">
                <a:solidFill>
                  <a:srgbClr val="4A5257"/>
                </a:solidFill>
                <a:latin typeface="Calibri"/>
              </a:rPr>
              <a:t> (35–109 events) are not assessable at all — “not measurable,” not “absent.”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Stroke sensitivity analysis is not yet interpretable.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Subgroup analyses are in-sample and descriptive; no external cohort; multiplicity declared but not formally corrected.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18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B8388"/>
                </a:solidFill>
                <a:latin typeface="Calibri"/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WHERE TO ASK THE SAME QUESTION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B2023"/>
                </a:solidFill>
                <a:latin typeface="Georgia"/>
              </a:rPr>
              <a:t>The infrastructure is ready — the cohort wasn't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A cohort </a:t>
            </a:r>
            <a:r>
              <a:rPr b="1" sz="1500">
                <a:solidFill>
                  <a:srgbClr val="1B2023"/>
                </a:solidFill>
                <a:latin typeface="Calibri"/>
              </a:rPr>
              <a:t>not</a:t>
            </a:r>
            <a:r>
              <a:rPr sz="1500">
                <a:solidFill>
                  <a:srgbClr val="4A5257"/>
                </a:solidFill>
                <a:latin typeface="Calibri"/>
              </a:rPr>
              <a:t> selected purely on bleeding risk — where the bleeding axis keeps its full variance.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Longer follow-up, or a higher-ischaemic-risk population — 35 stroke events measure nothing, whatever the estimator.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B8388"/>
                </a:solidFill>
                <a:latin typeface="Calibri"/>
              </a:rPr>
              <a:t>●  </a:t>
            </a:r>
            <a:r>
              <a:rPr sz="1500">
                <a:solidFill>
                  <a:srgbClr val="4A5257"/>
                </a:solidFill>
                <a:latin typeface="Calibri"/>
              </a:rPr>
              <a:t>A trial </a:t>
            </a:r>
            <a:r>
              <a:rPr b="1" sz="1500">
                <a:solidFill>
                  <a:srgbClr val="1B2023"/>
                </a:solidFill>
                <a:latin typeface="Calibri"/>
              </a:rPr>
              <a:t>sized on the interaction</a:t>
            </a:r>
            <a:r>
              <a:rPr sz="1500">
                <a:solidFill>
                  <a:srgbClr val="4A5257"/>
                </a:solidFill>
                <a:latin typeface="Calibri"/>
              </a:rPr>
              <a:t>, not the average effect — δ* is exactly the tool to pre-register that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572000"/>
            <a:ext cx="32004" cy="1188720"/>
          </a:xfrm>
          <a:prstGeom prst="rect">
            <a:avLst/>
          </a:prstGeom>
          <a:solidFill>
            <a:srgbClr val="1B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17136"/>
            <a:ext cx="9784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1B2023"/>
                </a:solidFill>
                <a:latin typeface="Georgia"/>
              </a:rPr>
              <a:t>The guided-enrolment machinery of ch.8 is built, measured, and already equipped with its two known failure modes — ready for a cohort where heterogeneity actually exists.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395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B8388"/>
                </a:solidFill>
                <a:latin typeface="Consolas"/>
              </a:rPr>
              <a:t>CATE IN MASTER DAPT  ·  T. PIODA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B8388"/>
                </a:solidFill>
                <a:latin typeface="Consolas"/>
              </a:rPr>
              <a:t>19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B8388"/>
                </a:solidFill>
              </a:rPr>
              <a:t>●  </a:t>
            </a:r>
            <a:r>
              <a:rPr sz="1100" b="1">
                <a:solidFill>
                  <a:srgbClr val="7B8388"/>
                </a:solidFill>
                <a:latin typeface="Consola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>
                <a:solidFill>
                  <a:srgbClr val="1B2023"/>
                </a:solidFill>
                <a:latin typeface="Georgia"/>
              </a:rPr>
              <a:t>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77639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i="1">
                <a:solidFill>
                  <a:srgbClr val="4A5257"/>
                </a:solidFill>
                <a:latin typeface="Georgia"/>
              </a:rPr>
              <a:t>Tommaso Pioda · CATE Estimation and Use in the MASTER DAPT Study</a:t>
            </a:r>
          </a:p>
          <a:p>
            <a:pPr algn="ctr">
              <a:lnSpc>
                <a:spcPct val="130000"/>
              </a:lnSpc>
            </a:pPr>
            <a:r>
              <a:rPr sz="1400" i="1">
                <a:solidFill>
                  <a:srgbClr val="4A5257"/>
                </a:solidFill>
                <a:latin typeface="Georgia"/>
              </a:rPr>
              <a:t>Supervisor: Prof. Laura Azzimonti — Co-supervisor: Gabriele Maroni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